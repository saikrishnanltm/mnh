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1" r:id="rId6"/>
    <p:sldId id="2147470507" r:id="rId7"/>
    <p:sldId id="2147470508" r:id="rId8"/>
    <p:sldId id="2147470509" r:id="rId9"/>
    <p:sldId id="2147470525" r:id="rId10"/>
    <p:sldId id="2147470510" r:id="rId11"/>
    <p:sldId id="2147470511" r:id="rId12"/>
    <p:sldId id="2147470512" r:id="rId13"/>
    <p:sldId id="2147470513" r:id="rId14"/>
    <p:sldId id="2147470514" r:id="rId15"/>
    <p:sldId id="2147470515" r:id="rId16"/>
    <p:sldId id="2147470516" r:id="rId17"/>
    <p:sldId id="2147470517" r:id="rId18"/>
    <p:sldId id="2147470518" r:id="rId19"/>
    <p:sldId id="2147470519" r:id="rId20"/>
    <p:sldId id="2147470520" r:id="rId21"/>
    <p:sldId id="2147470521" r:id="rId22"/>
    <p:sldId id="2147470522" r:id="rId23"/>
    <p:sldId id="214747052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30BBDA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https://langchain-ai.github.io/langgraph/" TargetMode="External"/><Relationship Id="rId7" Type="http://schemas.openxmlformats.org/officeDocument/2006/relationships/hyperlink" Target="https://docs.stripe.com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s.google.com/identity/protocols/oauth2" TargetMode="External"/><Relationship Id="rId5" Type="http://schemas.openxmlformats.org/officeDocument/2006/relationships/hyperlink" Target="https://docs.github.com/en/apps/oauth-apps" TargetMode="External"/><Relationship Id="rId4" Type="http://schemas.openxmlformats.org/officeDocument/2006/relationships/hyperlink" Target="https://tree-sitter.github.io/tree-sitter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https://langchain-ai.github.io/langgraph/" TargetMode="External"/><Relationship Id="rId7" Type="http://schemas.openxmlformats.org/officeDocument/2006/relationships/hyperlink" Target="https://docs.stripe.com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s.google.com/identity/protocols/oauth2" TargetMode="External"/><Relationship Id="rId5" Type="http://schemas.openxmlformats.org/officeDocument/2006/relationships/hyperlink" Target="https://docs.github.com/en/apps/oauth-apps" TargetMode="External"/><Relationship Id="rId4" Type="http://schemas.openxmlformats.org/officeDocument/2006/relationships/hyperlink" Target="https://tree-sitter.github.io/tree-sit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542814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SAIKRISHNAN P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9453" y="5340187"/>
            <a:ext cx="5181827" cy="18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546" y="1234637"/>
            <a:ext cx="10624338" cy="6317458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dirty="0" err="1">
                <a:latin typeface="+mn-lt"/>
              </a:rPr>
              <a:t>CodeSage</a:t>
            </a:r>
            <a:r>
              <a:rPr lang="en-IN" dirty="0">
                <a:latin typeface="+mn-lt"/>
              </a:rPr>
              <a:t> is a RAG tool that answers natural-language questions about any GitHub repo by chunking its code (AST-aware for Python/JS/TS/Java/notebooks), indexing it with hybrid vector + keyword search, and generating cited answers via an LLM agent pipeline. 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dirty="0">
                <a:latin typeface="+mn-lt"/>
              </a:rPr>
              <a:t>It runs as a </a:t>
            </a:r>
            <a:r>
              <a:rPr lang="en-IN" dirty="0" err="1">
                <a:latin typeface="+mn-lt"/>
              </a:rPr>
              <a:t>FastAPI</a:t>
            </a:r>
            <a:r>
              <a:rPr lang="en-IN" dirty="0">
                <a:latin typeface="+mn-lt"/>
              </a:rPr>
              <a:t> service — /ingest a repo, /query it in plain English — deployable via Docker, and is currently live and fully verified end-to-end on your own Railway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158582" y="902"/>
            <a:ext cx="1027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Lets developers query a codebase in plain English instead of manually searching or reading through unfamiliar source files, getting answers grounded in the actual code with file/line citations.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Do this accurately and verifiably — using AST-aware chunking (not blind text splitting) and hybrid retrieval, with an LLM verify step that checks the answer is actually supported by the retrieved code before returning it.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Make it practically deployable and usable, not just a local script — packaged as a </a:t>
            </a:r>
            <a:r>
              <a:rPr lang="en-IN" sz="2400" dirty="0" err="1"/>
              <a:t>FastAPI</a:t>
            </a:r>
            <a:r>
              <a:rPr lang="en-IN" sz="2400" dirty="0"/>
              <a:t> service with async, non-blocking ingestion (so real-sized repos don't time out), persistent storage across restarts, and repo management endpoints, all runnable in production (as verified on your own Railway deployment).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F76CF2-A00C-F785-FADC-227139C244F6}"/>
              </a:ext>
            </a:extLst>
          </p:cNvPr>
          <p:cNvSpPr txBox="1"/>
          <p:nvPr/>
        </p:nvSpPr>
        <p:spPr>
          <a:xfrm>
            <a:off x="2158582" y="902"/>
            <a:ext cx="1027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19718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handles: ingesting GitHub repos (or local folders) across multiple languages — Python, JS/TS, Java, HTML/CSS/SCSS, and Jupyter notebooks — chunking them intelligently, indexing with hybrid (vector + keyword) search, and answering natural-language questions with cited, LLM-generated responses via a </a:t>
            </a:r>
            <a:r>
              <a:rPr lang="en-IN" sz="2400" dirty="0" err="1"/>
              <a:t>FastAPI</a:t>
            </a:r>
            <a:r>
              <a:rPr lang="en-IN" sz="2400" dirty="0"/>
              <a:t> service.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manages: multiple repos indexed side-by-side (filterable per-repo at query time), with endpoints to list, re-ingest, and delete indexed repos, plus persistent storage so data survives restarts/redeploys.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doesn't cover: live/deployed websites (only repo source code, not crawling a running site), non-code file types beyond what's explicitly chunked, and it's a single-instance design — no multi-user auth, no distributed/multi-replica job queue (the in-memory job tracking assumes one instance).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A45FDD-B79A-FAC6-CB15-A8AA0B6013AB}"/>
              </a:ext>
            </a:extLst>
          </p:cNvPr>
          <p:cNvSpPr txBox="1"/>
          <p:nvPr/>
        </p:nvSpPr>
        <p:spPr>
          <a:xfrm>
            <a:off x="2158582" y="902"/>
            <a:ext cx="1027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A1C0A09B-4A68-05FE-7C52-AF4AB962A397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0BF02D0-F07E-9D7D-2B77-A3B35A98442D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9080F93-4354-390A-EBBE-306BE59734B4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563EB3-0A20-29B0-F3BE-999A345787DD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 Chunking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C591075-74BE-6B88-2A10-A2FDF00DF565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17FCF80-8FA0-E4B4-AB0C-5944343B231B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CFD482-69F8-742A-CD65-E42D8B4DE873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2BD0E9-CA5E-B269-A0D1-CDA4A76074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Chunking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2896E952-EF91-A459-D08B-E75A49CA8B1B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CB7F38-3360-8E62-6EF5-6F078A1E3920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458C21-6AF0-A10D-86D1-1FF94A7EBC1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950EE7-3CC0-4089-4E74-0C9C031B3FE5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8D64F29-E160-BD9F-007C-F7250E7C23F0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27F0C2-C498-66C7-9920-674B07F3C892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F7D005-20B8-7278-051A-6F72FCF4A831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18C14D-1A79-F962-BDB7-CFCA36ACF276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D4B2FEB-D721-B5B8-F97D-A9B74EA160E3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43CB245-E08D-594A-21A2-C8F1316C25CB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82726FD-8D87-2925-EB11-D83636FB8FC2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5500CE8-B7CA-5114-FF69-057793ACABF3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Indexing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E9CDA3E-400D-911A-6837-BBC17D798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900283B-AE50-7FCB-EA32-5E82A7B3FD99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6692C8DB-812B-7221-3792-2BFA63DA9D4F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96A6EEB-8DFB-BF21-30B9-724106DE3245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C124553-56F4-E6BF-F834-778F8585C7B1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2D3BA62B-94C7-C20B-AE12-ADBE13330335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43C3D93-274B-78C7-5C3A-B1334C69ADFC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6A0DD45-803F-C074-3185-7871DEB98D04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 &amp; Verification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4BAD79-BCE7-CA02-4904-AD55CD988481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C93BAD41-348D-B7D0-74DD-5FC2FD5381B4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AFFDC99-7B64-D5E2-E919-CE6B7B76E20D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057E582-1514-A263-ED8E-C0F864DB539D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Deployment</a:t>
            </a:r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18163-3765-6391-12E8-8ADCDAEA35E0}"/>
              </a:ext>
            </a:extLst>
          </p:cNvPr>
          <p:cNvSpPr txBox="1"/>
          <p:nvPr/>
        </p:nvSpPr>
        <p:spPr>
          <a:xfrm>
            <a:off x="2158582" y="902"/>
            <a:ext cx="1027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AST-aware chunking — parse each file's syntax tree (Python </a:t>
            </a:r>
            <a:r>
              <a:rPr lang="en-IN" dirty="0"/>
              <a:t>ast</a:t>
            </a:r>
            <a:r>
              <a:rPr lang="en-IN" sz="2400" dirty="0"/>
              <a:t>, tree-sitter for JS/TS/Java/HTML/CSS, cell-by-cell for notebooks) and emit one chunk per function/class/method, instead of splitting by fixed character windows — preserves semantic boundaries so no chunk cuts a function in half.</a:t>
            </a:r>
          </a:p>
          <a:p>
            <a:pPr lvl="0"/>
            <a:r>
              <a:rPr lang="en-IN" sz="2400" dirty="0"/>
              <a:t>Hybrid retrieval with Reciprocal Rank Fusion — dense vector search (Chroma + sentence-transformer embeddings) for conceptual/paraphrased queries, combined with sparse full-text search (Postgres </a:t>
            </a:r>
            <a:r>
              <a:rPr lang="en-IN" dirty="0"/>
              <a:t>tsvector</a:t>
            </a:r>
            <a:r>
              <a:rPr lang="en-IN" sz="2400" dirty="0"/>
              <a:t>/GIN) for exact identifiers and error strings; fused by rank position (</a:t>
            </a:r>
            <a:r>
              <a:rPr lang="en-IN" dirty="0"/>
              <a:t>Σ 1/(k+rank)</a:t>
            </a:r>
            <a:r>
              <a:rPr lang="en-IN" sz="2400" dirty="0"/>
              <a:t>) rather than normalizing incomparable similarity scores.</a:t>
            </a:r>
          </a:p>
          <a:p>
            <a:pPr lvl="0"/>
            <a:r>
              <a:rPr lang="en-IN" sz="2400" dirty="0"/>
              <a:t>Agentic generation pipeline (</a:t>
            </a:r>
            <a:r>
              <a:rPr lang="en-IN" sz="2400" dirty="0" err="1"/>
              <a:t>LangGraph</a:t>
            </a:r>
            <a:r>
              <a:rPr lang="en-IN" sz="2400" dirty="0"/>
              <a:t>) — </a:t>
            </a:r>
            <a:r>
              <a:rPr lang="en-IN" dirty="0"/>
              <a:t>triage → retrieve → generate → verify</a:t>
            </a:r>
            <a:r>
              <a:rPr lang="en-IN" sz="2400" dirty="0"/>
              <a:t>, where the verify step checks for hallucinated citations or empty answers and triggers one retry with a broadened query before surfacing the result, rather than a single-shot retrieve-then-generate call.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8B59335C-7FB8-2739-7EDE-EE2688035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AC5711-87C7-FC64-47CF-A444E344DDB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F0E4758D-E98F-3A74-255E-88ADEFE51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1B49A-5DAF-FBF9-59BE-EE520C904176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342B-70A3-79C6-C72C-36896C60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005C9B-65D4-D083-3CBA-CC958A8B3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Backend &amp; API — Python, </a:t>
            </a:r>
            <a:r>
              <a:rPr lang="en-IN" sz="2400" dirty="0" err="1"/>
              <a:t>FastAPI</a:t>
            </a:r>
            <a:r>
              <a:rPr lang="en-IN" sz="2400" dirty="0"/>
              <a:t> (REST API), </a:t>
            </a:r>
            <a:r>
              <a:rPr lang="en-IN" sz="2400" dirty="0" err="1"/>
              <a:t>Pydantic</a:t>
            </a:r>
            <a:r>
              <a:rPr lang="en-IN" sz="2400" dirty="0"/>
              <a:t> (request/response validation), JWT (</a:t>
            </a:r>
            <a:r>
              <a:rPr lang="en-IN" sz="2400" dirty="0" err="1"/>
              <a:t>PyJWT</a:t>
            </a:r>
            <a:r>
              <a:rPr lang="en-IN" sz="2400" dirty="0"/>
              <a:t>) for auth tokens.</a:t>
            </a:r>
          </a:p>
          <a:p>
            <a:pPr lvl="0"/>
            <a:r>
              <a:rPr lang="en-IN" sz="2400" dirty="0"/>
              <a:t>RAG &amp; AI pipeline — </a:t>
            </a:r>
            <a:r>
              <a:rPr lang="en-IN" sz="2400" dirty="0" err="1"/>
              <a:t>LangGraph</a:t>
            </a:r>
            <a:r>
              <a:rPr lang="en-IN" sz="2400" dirty="0"/>
              <a:t> (agentic </a:t>
            </a:r>
            <a:r>
              <a:rPr lang="en-IN" sz="2400" dirty="0" err="1"/>
              <a:t>triage→retrieve→generate→verify</a:t>
            </a:r>
            <a:r>
              <a:rPr lang="en-IN" sz="2400" dirty="0"/>
              <a:t> graph), </a:t>
            </a:r>
            <a:r>
              <a:rPr lang="en-IN" sz="2400" dirty="0" err="1"/>
              <a:t>Groq</a:t>
            </a:r>
            <a:r>
              <a:rPr lang="en-IN" sz="2400" dirty="0"/>
              <a:t> (LLM inference), </a:t>
            </a:r>
            <a:r>
              <a:rPr lang="en-IN" sz="2400" dirty="0" err="1"/>
              <a:t>ChromaDB</a:t>
            </a:r>
            <a:r>
              <a:rPr lang="en-IN" sz="2400" dirty="0"/>
              <a:t> (vector store), sentence-transformers (embeddings), tree-sitter + Python </a:t>
            </a:r>
            <a:r>
              <a:rPr lang="en-IN" dirty="0"/>
              <a:t>ast</a:t>
            </a:r>
            <a:r>
              <a:rPr lang="en-IN" sz="2400" dirty="0"/>
              <a:t> (AST-based code chunking).</a:t>
            </a:r>
          </a:p>
          <a:p>
            <a:pPr lvl="0"/>
            <a:r>
              <a:rPr lang="en-IN" sz="2400" dirty="0"/>
              <a:t>Data &amp; infrastructure — PostgreSQL (users, history, full-text search via </a:t>
            </a:r>
            <a:r>
              <a:rPr lang="en-IN" dirty="0"/>
              <a:t>tsvector</a:t>
            </a:r>
            <a:r>
              <a:rPr lang="en-IN" sz="2400" dirty="0"/>
              <a:t>), Redis + RQ (background job queue for ingestion), psycopg2 (DB driver).</a:t>
            </a:r>
          </a:p>
          <a:p>
            <a:pPr lvl="0"/>
            <a:r>
              <a:rPr lang="en-IN" sz="2400" dirty="0"/>
              <a:t>Auth &amp; integrations — GitHub OAuth, Google OAuth, Stripe (billing/credits), SMTP (email verification).</a:t>
            </a:r>
          </a:p>
          <a:p>
            <a:pPr lvl="0"/>
            <a:r>
              <a:rPr lang="en-IN" sz="2400" dirty="0"/>
              <a:t>Frontend — React, Vite.</a:t>
            </a:r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CF1FB-CA2C-2456-EBF1-F6E4B714143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 Used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B2A94-C501-B9EA-F38B-46EC29FC2C8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53047FAE-2851-336E-5721-CDF0AF3DA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2B7A5E-C1E1-DE23-BB7B-6067B7DEB35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A17E726E-2F03-5130-0F75-36712FB0F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9DB924-B654-1DD8-8E97-4BBB468CE9C0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125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EF330-8ACA-18EE-F4C3-AD932FA9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3BB1A8-1E2E-A5E8-8E07-284CD3D98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Hybrid retrieval (dense + sparse + RRF) outperformed either method alone, catching both conceptual queries and exact identifiers.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AST-based chunking produced cleaner, more citable results than fixed-window splitting, once generated files (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lockfiles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were filtered out.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Queue-based ingestion (Redis + RQ) proved necessary, not just theoretical — a real repo (Flask, 1,217 chunks) took ~60s, which would risk timeouts running inline.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Full end-to-end testing surfaced real integration bugs (missing route, port mismatch, status-string mismatch) that unit-level testing alone wouldn't have caught.</a:t>
            </a:r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76C01-AE91-F34B-C7B2-79F246DCF61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0AA925-D9AB-F3BC-C827-D02875FA5F1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F9FDE862-B78F-3C65-27E5-DC16FDA0F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F71807-AD36-9FD7-CBD3-A630F27AE7F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3653E23B-75B0-5BA8-FCCB-65E0E13F4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CE0F89-168C-7C15-D122-4E83BAFCAB99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24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F89D-6E9F-3E59-6E10-B54521E9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4D34FD-AC6D-8E4E-06EA-97B667DF5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 err="1"/>
              <a:t>CodeSage</a:t>
            </a:r>
            <a:r>
              <a:rPr lang="en-IN" sz="2400" dirty="0"/>
              <a:t> first went live as an older, single-instance backend on Railway, served on your custom domain, codebase12.app.</a:t>
            </a:r>
          </a:p>
          <a:p>
            <a:pPr lvl="0"/>
            <a:r>
              <a:rPr lang="en-IN" sz="2400" dirty="0"/>
              <a:t>Since then the project has grown a lot: Postgres, a Redis/RQ ingestion worker, pluggable Chroma, GitHub and Google login with account linking, a developer API with Stripe credits, and push webhooks. The Railway version predates these.</a:t>
            </a:r>
          </a:p>
          <a:p>
            <a:pPr lvl="0"/>
            <a:r>
              <a:rPr lang="en-IN" sz="2400" dirty="0"/>
              <a:t>The Azure move deploys this current version as separate pieces: web and worker containers, a Chroma container with a persistent volume, managed Postgres and Redis, and the frontend on Static Web Apps.</a:t>
            </a:r>
          </a:p>
          <a:p>
            <a:pPr lvl="0"/>
            <a:r>
              <a:rPr lang="en-IN" sz="2400" dirty="0"/>
              <a:t>Moving hosts also means repointing the GitHub and Google redirect URIs, the Stripe webhook and </a:t>
            </a:r>
            <a:r>
              <a:rPr lang="en-IN" dirty="0"/>
              <a:t>BACKEND_PUBLIC_URL</a:t>
            </a:r>
            <a:r>
              <a:rPr lang="en-IN" sz="2400" dirty="0"/>
              <a:t>, and tightening CORS to your frontend origin.</a:t>
            </a:r>
          </a:p>
          <a:p>
            <a:pPr lvl="0"/>
            <a:r>
              <a:rPr lang="en-IN" sz="2400" dirty="0"/>
              <a:t>The safest cutover is to keep Railway live until Azure passes a login, ingest and question test, then switch the codebase12.app DNS to Azure.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E306E-0FCA-B711-DE83-8AF74EC70F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82FF7D-AD6F-9BEE-0D4E-538D488022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835B2E27-2FDB-CEF8-62E1-2854AB4B3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53D0B8-4EBF-2992-7EB0-805E0EE2ABA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41A3B520-E688-8717-F262-B525A3038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80B41-4661-A426-9CAC-9D5E6B8105EA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970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917B-B78B-DFF1-638B-2B1A658F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EEE962-F1C4-9ED2-F942-EB57C7CBB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586234" cy="4142989"/>
          </a:xfrm>
        </p:spPr>
        <p:txBody>
          <a:bodyPr/>
          <a:lstStyle/>
          <a:p>
            <a:pPr lvl="0"/>
            <a:r>
              <a:rPr lang="en-IN" sz="2400" dirty="0" err="1"/>
              <a:t>CodeSage</a:t>
            </a:r>
            <a:r>
              <a:rPr lang="en-IN" sz="2400" dirty="0"/>
              <a:t> demonstrates that a hybrid retrieval-augmented generation approach — combining AST-aware chunking, dense + sparse retrieval fused via RRF, and an agentic verify-and-retry generation loop — produces more accurate, better-cited answers over a codebase than either naive text-splitting or single-method retrieval alone. Beyond the core RAG pipeline, the project required solving real infrastructure problems — moving off single-process storage (SQLite, pickle files) onto Postgres and Redis/RQ, and building secure multi-provider authentication with explicit non-merge-by-email protections — to make the system usable by more than one person at a time. End-to-end testing against a live deployment surfaced and resolved integration issues that isolated component testing wouldn't have caught, reinforcing that a RAG system's reliability depends as much on its surrounding infrastructure (job queues, auth, data isolation) as on the retrieval and generation logic itself. The result is a working, multi-tenant codebase Q&amp;A system supporting both public and private GitHub repositories, with clear, identified next steps (token refresh handling, a repo-picker UI, deployment hardening) rather than open-ended unknowns.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74C32-7615-5302-16B2-DE8BED1E3B4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2FEEDD-E2B3-906B-0CCF-E0EE875CC60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23703810-984A-8E7F-58C0-1B9133705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9DE2A1D-EC68-5207-2ACA-7B6C11ED33D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37C1913E-82E6-0CD3-8E7D-AF3686D0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381B2-B8C6-0B41-0C05-991791AC72D2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919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9274-AEE6-742C-7376-627B2B4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97DDDA-02B7-0B0D-7732-9F25F260F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829" y="1596151"/>
            <a:ext cx="10624338" cy="4142989"/>
          </a:xfrm>
        </p:spPr>
        <p:txBody>
          <a:bodyPr/>
          <a:lstStyle/>
          <a:p>
            <a:pPr marL="0" indent="0" algn="just">
              <a:buNone/>
            </a:pPr>
            <a:r>
              <a:rPr lang="en-IN" sz="2400" dirty="0"/>
              <a:t>I sincerely thank LTM and L&amp;T </a:t>
            </a:r>
            <a:r>
              <a:rPr lang="en-IN" sz="2400" dirty="0" err="1"/>
              <a:t>EduTech</a:t>
            </a:r>
            <a:r>
              <a:rPr lang="en-IN" sz="2400" dirty="0"/>
              <a:t> for providing the infrastructure, laptop, training room, ID card, and a valuable 2-month opportunity to enhance my technical skills through practical project development.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</a:t>
            </a:r>
            <a:r>
              <a:rPr lang="en-IN" sz="2400" dirty="0" err="1"/>
              <a:t>EduTech</a:t>
            </a:r>
            <a:r>
              <a:rPr lang="en-IN" sz="2400" dirty="0"/>
              <a:t>, for his encouragement, support, and for providing this valuable opportunity.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0AF37-FA7F-9F81-FC6E-65F10432271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A67CB3-BBAE-035E-657D-7BAA323AE2C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2999FCFD-301F-254A-5AC4-902F16F43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2659E8-7BE3-D39E-C973-440A14DF78F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AFDC5E9A-DF61-7D5D-742F-03641BD0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8FB10B-1E17-5851-D845-3CFE32BF3C13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434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FE76-A558-7196-B57F-A4845B2C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BE5645-24CC-0EF4-5C66-5F601C47C3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27126"/>
            <a:ext cx="11721145" cy="4142989"/>
          </a:xfrm>
        </p:spPr>
        <p:txBody>
          <a:bodyPr/>
          <a:lstStyle/>
          <a:p>
            <a:pPr lvl="0"/>
            <a:r>
              <a:rPr lang="en-IN" sz="2400" dirty="0" err="1"/>
              <a:t>FastAPI</a:t>
            </a:r>
            <a:r>
              <a:rPr lang="en-IN" sz="2400" dirty="0"/>
              <a:t> Documentation. Ramírez, S. </a:t>
            </a:r>
            <a:r>
              <a:rPr lang="en-IN" sz="2400" i="1" dirty="0" err="1"/>
              <a:t>FastAPI</a:t>
            </a:r>
            <a:r>
              <a:rPr lang="en-IN" sz="2400" i="1" dirty="0"/>
              <a:t>: Modern, Fast Web Framework for Building APIs with Python</a:t>
            </a:r>
            <a:r>
              <a:rPr lang="en-IN" sz="2400" dirty="0"/>
              <a:t>. </a:t>
            </a:r>
            <a:r>
              <a:rPr lang="en-IN" sz="2400" dirty="0">
                <a:hlinkClick r:id="rId2"/>
              </a:rPr>
              <a:t>https://fastapi.tiangolo.com</a:t>
            </a:r>
            <a:endParaRPr lang="en-IN" sz="2400" dirty="0"/>
          </a:p>
          <a:p>
            <a:pPr lvl="0"/>
            <a:r>
              <a:rPr lang="en-IN" sz="2400" dirty="0" err="1"/>
              <a:t>LangChain</a:t>
            </a:r>
            <a:r>
              <a:rPr lang="en-IN" sz="2400" dirty="0"/>
              <a:t> AI. </a:t>
            </a:r>
            <a:r>
              <a:rPr lang="en-IN" sz="2400" i="1" dirty="0" err="1"/>
              <a:t>LangGraph</a:t>
            </a:r>
            <a:r>
              <a:rPr lang="en-IN" sz="2400" i="1" dirty="0"/>
              <a:t> Documentation</a:t>
            </a:r>
            <a:r>
              <a:rPr lang="en-IN" sz="2400" dirty="0"/>
              <a:t>. </a:t>
            </a:r>
            <a:r>
              <a:rPr lang="en-IN" sz="2400" dirty="0">
                <a:hlinkClick r:id="rId3"/>
              </a:rPr>
              <a:t>https://langchain-ai.github.io/langgraph/</a:t>
            </a:r>
            <a:endParaRPr lang="en-IN" sz="2400" dirty="0"/>
          </a:p>
          <a:p>
            <a:pPr lvl="0"/>
            <a:r>
              <a:rPr lang="en-IN" sz="2400" dirty="0"/>
              <a:t>Tree-sitter. </a:t>
            </a:r>
            <a:r>
              <a:rPr lang="en-IN" sz="2400" i="1" dirty="0"/>
              <a:t>Tree-sitter: An Incremental Parsing System for Programming Tools</a:t>
            </a:r>
            <a:r>
              <a:rPr lang="en-IN" sz="2400" dirty="0"/>
              <a:t>. </a:t>
            </a:r>
            <a:r>
              <a:rPr lang="en-IN" sz="2400" dirty="0">
                <a:hlinkClick r:id="rId4"/>
              </a:rPr>
              <a:t>https://tree-sitter.github.io/tree-sitter/</a:t>
            </a:r>
            <a:endParaRPr lang="en-IN" sz="2400" dirty="0"/>
          </a:p>
          <a:p>
            <a:pPr lvl="0"/>
            <a:r>
              <a:rPr lang="en-IN" sz="2400" dirty="0"/>
              <a:t>GitHub, Inc. </a:t>
            </a:r>
            <a:r>
              <a:rPr lang="en-IN" sz="2400" i="1" dirty="0"/>
              <a:t>GitHub OAuth Apps Documentation</a:t>
            </a:r>
            <a:r>
              <a:rPr lang="en-IN" sz="2400" dirty="0"/>
              <a:t>. </a:t>
            </a:r>
            <a:r>
              <a:rPr lang="en-IN" sz="2400" dirty="0">
                <a:hlinkClick r:id="rId5"/>
              </a:rPr>
              <a:t>https://docs.github.com/en/apps/oauth-apps</a:t>
            </a:r>
            <a:endParaRPr lang="en-IN" sz="2400" dirty="0"/>
          </a:p>
          <a:p>
            <a:pPr lvl="0"/>
            <a:r>
              <a:rPr lang="en-IN" sz="2400" dirty="0"/>
              <a:t>Google LLC. </a:t>
            </a:r>
            <a:r>
              <a:rPr lang="en-IN" sz="2400" i="1" dirty="0"/>
              <a:t>Google Identity — OAuth 2.0 Documentation</a:t>
            </a:r>
            <a:r>
              <a:rPr lang="en-IN" sz="2400" dirty="0"/>
              <a:t>. </a:t>
            </a:r>
            <a:r>
              <a:rPr lang="en-IN" sz="2400" dirty="0">
                <a:hlinkClick r:id="rId6"/>
              </a:rPr>
              <a:t>https://developers.google.com/identity/protocols/oauth2</a:t>
            </a:r>
            <a:endParaRPr lang="en-IN" sz="2400" dirty="0"/>
          </a:p>
          <a:p>
            <a:pPr lvl="0"/>
            <a:r>
              <a:rPr lang="en-IN" sz="2400" dirty="0"/>
              <a:t>Stripe, Inc. </a:t>
            </a:r>
            <a:r>
              <a:rPr lang="en-IN" sz="2400" i="1" dirty="0"/>
              <a:t>Stripe API Documentation</a:t>
            </a:r>
            <a:r>
              <a:rPr lang="en-IN" sz="2400" dirty="0"/>
              <a:t>. </a:t>
            </a:r>
            <a:r>
              <a:rPr lang="en-IN" sz="2400" dirty="0">
                <a:hlinkClick r:id="rId7"/>
              </a:rPr>
              <a:t>https://docs.stripe.com</a:t>
            </a:r>
            <a:endParaRPr lang="en-IN" sz="2400" dirty="0"/>
          </a:p>
          <a:p>
            <a:pPr lvl="0"/>
            <a:r>
              <a:rPr lang="en-IN" sz="2400" dirty="0"/>
              <a:t>Grinberg, M. (2018). </a:t>
            </a:r>
            <a:r>
              <a:rPr lang="en-IN" sz="2400" i="1" dirty="0"/>
              <a:t>Flask Web Development: Developing Web Applications with Python</a:t>
            </a:r>
            <a:r>
              <a:rPr lang="en-IN" sz="2400" dirty="0"/>
              <a:t> (2nd ed.). O'Reilly Media. </a:t>
            </a:r>
            <a:r>
              <a:rPr lang="en-IN" sz="2400" i="1" dirty="0"/>
              <a:t>(reference repository used for testing)</a:t>
            </a:r>
            <a:endParaRPr lang="en-IN" sz="2400" dirty="0"/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ACF48-879A-3137-E8EE-21FC2D776F1C}"/>
              </a:ext>
            </a:extLst>
          </p:cNvPr>
          <p:cNvSpPr txBox="1"/>
          <p:nvPr/>
        </p:nvSpPr>
        <p:spPr>
          <a:xfrm>
            <a:off x="255996" y="41993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C293A5-FF92-F79E-19AF-69B01B4D2422}"/>
              </a:ext>
            </a:extLst>
          </p:cNvPr>
          <p:cNvCxnSpPr>
            <a:cxnSpLocks/>
          </p:cNvCxnSpPr>
          <p:nvPr/>
        </p:nvCxnSpPr>
        <p:spPr>
          <a:xfrm>
            <a:off x="255996" y="106626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AF456480-F2C5-4150-304D-13BF70AFB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DADEB2-DC5F-9C63-A2F2-C695A53C1972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4606CC75-6CAA-333F-0E03-7769367C7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5446F4-5A39-D3DF-5D11-2E8463AE33AF}"/>
              </a:ext>
            </a:extLst>
          </p:cNvPr>
          <p:cNvSpPr txBox="1"/>
          <p:nvPr/>
        </p:nvSpPr>
        <p:spPr>
          <a:xfrm>
            <a:off x="1311666" y="55270"/>
            <a:ext cx="11205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CODESAGE: AN EXPLAINABLE AGENTIC RAG SYSTEM FOR  SOFTWARE REPOSITORY COMPREHENSION</a:t>
            </a:r>
          </a:p>
          <a:p>
            <a:pPr lvl="0" algn="ctr">
              <a:defRPr/>
            </a:pP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885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88EA-AFA1-0906-4577-73879842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294060-0E97-D58E-53E6-62F83150C66D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E5506C43-8939-07CF-1EE0-3904E17C8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397014-3B4F-9877-6D4A-972AE235EACE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3E83DB-413C-3D0D-C84B-0959CE48E47E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621CF-D8D2-D3AD-D176-89FBE994A083}"/>
              </a:ext>
            </a:extLst>
          </p:cNvPr>
          <p:cNvSpPr txBox="1"/>
          <p:nvPr/>
        </p:nvSpPr>
        <p:spPr>
          <a:xfrm>
            <a:off x="334616" y="1542814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SAIKRISHNAN P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469098-00AD-CF15-0EBF-D71F5A4469BA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8C2C397-38E6-8CA4-56D4-6ABAAB86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8BD7C1-C364-0299-569B-00841ACEB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9453" y="5340187"/>
            <a:ext cx="5181827" cy="18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6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197E-D100-6FA0-3FEB-9C43482F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F6C5EA-7C3F-8052-B603-4B0657516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546" y="1234637"/>
            <a:ext cx="10624338" cy="6317458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dirty="0" err="1"/>
              <a:t>CodeSage</a:t>
            </a:r>
            <a:r>
              <a:rPr lang="en-IN" dirty="0"/>
              <a:t> is a RAG tool that answers natural-language questions about any GitHub repo by chunking its code (AST-aware for Python/JS/TS/Java/notebooks), indexing it with hybrid vector + keyword search, and generating cited answers via an LLM agent pipeline. 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dirty="0"/>
              <a:t>It runs as a </a:t>
            </a:r>
            <a:r>
              <a:rPr lang="en-IN" dirty="0" err="1"/>
              <a:t>FastAPI</a:t>
            </a:r>
            <a:r>
              <a:rPr lang="en-IN" dirty="0"/>
              <a:t> service — /ingest a repo, /query it in plain English — deployable via Docker, and is currently live and fully verified end-to-end on your own Railway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F2534-60EA-2115-67F5-022B803089A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5EED8E-24ED-7528-F2C9-0950EA6C708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F4A7DB-5DF9-EAAB-685F-65CFF4F9A53B}"/>
              </a:ext>
            </a:extLst>
          </p:cNvPr>
          <p:cNvSpPr txBox="1"/>
          <p:nvPr/>
        </p:nvSpPr>
        <p:spPr>
          <a:xfrm>
            <a:off x="2158582" y="902"/>
            <a:ext cx="102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lvl="0" algn="ctr">
              <a:defRPr/>
            </a:pP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600C8-784C-3549-9B57-5A1ECD8045E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BADE987F-6319-1086-4327-68ABADD97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67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A6F7-26A3-3176-A512-D4A4B52E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AE5DB4-085A-8DFF-843B-5748A19B7A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Lets developers query a codebase in plain English instead of manually searching or reading through unfamiliar source files, getting answers grounded in the actual code with file/line citations.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Do this accurately and verifiably — using AST-aware chunking (not blind text splitting) and hybrid retrieval, with an LLM verify step that checks the answer is actually supported by the retrieved code before returning it.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Make it practically deployable and usable, not just a local script — packaged as a </a:t>
            </a:r>
            <a:r>
              <a:rPr lang="en-IN" sz="2400" dirty="0" err="1"/>
              <a:t>FastAPI</a:t>
            </a:r>
            <a:r>
              <a:rPr lang="en-IN" sz="2400" dirty="0"/>
              <a:t> service with async, non-blocking ingestion (so real-sized repos don't time out), persistent storage across restarts, and repo management endpoints, all runnable in production (as verified on your own Railway deployment).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673FB-8A7D-81CA-5ECF-EF76687E46B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B2F578-13FA-226D-6A97-3336202080F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7A76EB-086B-A674-3AFA-3C5F7B53B4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240EA379-B3F5-F1A4-0173-D7A4F2333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D6A4BC-74B8-9BEF-FEBD-13BAECF853AE}"/>
              </a:ext>
            </a:extLst>
          </p:cNvPr>
          <p:cNvSpPr txBox="1"/>
          <p:nvPr/>
        </p:nvSpPr>
        <p:spPr>
          <a:xfrm>
            <a:off x="2158582" y="902"/>
            <a:ext cx="102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lvl="0" algn="ctr">
              <a:defRPr/>
            </a:pP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006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7C02-14D8-0D1C-CC7C-4FDCCF6D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EA265F-8736-20B7-AE03-9944615785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19718"/>
          </a:xfrm>
        </p:spPr>
        <p:txBody>
          <a:bodyPr/>
          <a:lstStyle/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handles: ingesting GitHub repos (or local folders) across multiple languages — Python, JS/TS, Java, HTML/CSS/SCSS, and Jupyter notebooks — chunking them intelligently, indexing with hybrid (vector + keyword) search, and answering natural-language questions with cited, LLM-generated responses via a </a:t>
            </a:r>
            <a:r>
              <a:rPr lang="en-IN" sz="2400" dirty="0" err="1"/>
              <a:t>FastAPI</a:t>
            </a:r>
            <a:r>
              <a:rPr lang="en-IN" sz="2400" dirty="0"/>
              <a:t> service.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manages: multiple repos indexed side-by-side (filterable per-repo at query time), with endpoints to list, re-ingest, and delete indexed repos, plus persistent storage so data survives restarts/redeploys.</a:t>
            </a:r>
          </a:p>
          <a:p>
            <a:pPr>
              <a:spcAft>
                <a:spcPts val="1600"/>
              </a:spcAft>
              <a:buSzPct val="100000"/>
            </a:pPr>
            <a:r>
              <a:rPr lang="en-IN" sz="2400" dirty="0"/>
              <a:t>What it doesn't cover: live/deployed websites (only repo source code, not crawling a running site), non-code file types beyond what's explicitly chunked, and it's a single-instance design — no multi-user auth, no distributed/multi-replica job queue (the in-memory job tracking assumes one instance).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A77EE-5D88-ED3D-DB96-C4B9B7116D4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FA52D6-C11D-F02B-6E62-42034DFC0A9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6F4D0FCF-8B77-559C-511F-540A427B04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34621A-CB72-7397-65E2-585DA0CAF09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1F5831C9-FF60-8743-CD1A-25FE8C825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E53D3-0D80-F7FF-208E-813DF5EDA3D1}"/>
              </a:ext>
            </a:extLst>
          </p:cNvPr>
          <p:cNvSpPr txBox="1"/>
          <p:nvPr/>
        </p:nvSpPr>
        <p:spPr>
          <a:xfrm>
            <a:off x="2158582" y="902"/>
            <a:ext cx="102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lvl="0" algn="ctr">
              <a:defRPr/>
            </a:pP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205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903E-ECED-E264-4984-5D081518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06A4D-7E33-F3F0-FCEE-60529E30DA5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BF4363-8841-5F56-14C7-0D668EA2EE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38A3EE5-E2BE-7E97-E003-CD40BDEC62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0E0D87D5-4D89-B76D-7BDB-97728D500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935A78B2-F96D-6F64-660C-0BC5AEFCF578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80D1CCB-33CD-6FF2-46A6-9471DF0FB91B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3FA239C-EAFA-23E0-8915-6F9620D13C76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DB986BB-0715-5E77-46BD-275EC093781C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 Chunking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82D089A-DD0B-BC99-7C11-9A550FA923D9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8F2C7AA-BEFE-1230-481B-484FCDB50A76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6CEA4AC-239F-F81C-C670-36A7A688EC34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E673C7A-D834-7224-0381-81CF5D2753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Chunking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83FD15F-59D5-ABB7-94A3-CACA161BF2CA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A553D31-4E2E-3615-35DC-57B08CFC5F5A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9902F1A-5E26-7BA2-D73E-02AC684BF9A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8DA4A8F-81B1-3BA4-54C6-C051587318CB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ED147BC-5E50-A1F2-67FD-E0A029088108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E59FA62-6FD9-47D3-6D8E-E4923C745A5D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AC02840-73B3-2112-98F4-5A4459823DCA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859197B-FBE6-C3FA-8189-6C7825C6A9E5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8F3C6C9-7FC9-1F8A-A0CB-4B13AF455196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FAEABC81-972B-99ED-511D-BB5FA3DE480F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31AF907-46F3-2EFD-CFCA-A3CE9D358350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EF56D44-452D-2196-EC8A-D55880ED43D1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Indexing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FD4D94F-9C6C-1D36-8191-F4E780AB2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2E555D6F-2F41-9F5E-67ED-03026BF584C3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2330188E-E5AD-9AD6-78D4-4E730F9CD445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B4B0D41-B104-FADF-5C7F-E4742EBD2CD7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24DBE90A-372D-A0A7-A2AA-41C690C65956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9E1096B6-F002-089A-724C-A6F93F20A727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BAA38338-7CBC-0EBB-B889-A1FC6D53FC17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48A5A234-17B9-4D7F-7E44-D58D84419C93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 &amp; Verification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3BFB44-360F-B35C-3CFB-60FE740648D8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981AA17B-F501-8AB3-7442-C627AD5B3D38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6602AF83-C5EE-4F83-E195-6B1FDE667A96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369E5BDE-0ABE-D143-278E-C8B39FB207DE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Deployment</a:t>
            </a:r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C6F0A-0F83-D58B-6ABF-EEA9DBEE434E}"/>
              </a:ext>
            </a:extLst>
          </p:cNvPr>
          <p:cNvSpPr txBox="1"/>
          <p:nvPr/>
        </p:nvSpPr>
        <p:spPr>
          <a:xfrm>
            <a:off x="2158582" y="902"/>
            <a:ext cx="102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lvl="0" algn="ctr">
              <a:defRPr/>
            </a:pP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122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4D3C-91E5-4435-4DEB-94345899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9F3FFF-1579-2932-EAEF-8C3EB8E13C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AST-aware chunking — parse each file's syntax tree (Python </a:t>
            </a:r>
            <a:r>
              <a:rPr lang="en-IN" dirty="0"/>
              <a:t>ast</a:t>
            </a:r>
            <a:r>
              <a:rPr lang="en-IN" sz="2400" dirty="0"/>
              <a:t>, tree-sitter for JS/TS/Java/HTML/CSS, cell-by-cell for notebooks) and emit one chunk per function/class/method, instead of splitting by fixed character windows — preserves semantic boundaries so no chunk cuts a function in half.</a:t>
            </a:r>
          </a:p>
          <a:p>
            <a:pPr lvl="0"/>
            <a:r>
              <a:rPr lang="en-IN" sz="2400" dirty="0"/>
              <a:t>Hybrid retrieval with Reciprocal Rank Fusion — dense vector search (Chroma + sentence-transformer embeddings) for conceptual/paraphrased queries, combined with sparse full-text search (Postgres </a:t>
            </a:r>
            <a:r>
              <a:rPr lang="en-IN" dirty="0"/>
              <a:t>tsvector</a:t>
            </a:r>
            <a:r>
              <a:rPr lang="en-IN" sz="2400" dirty="0"/>
              <a:t>/GIN) for exact identifiers and error strings; fused by rank position (</a:t>
            </a:r>
            <a:r>
              <a:rPr lang="en-IN" dirty="0"/>
              <a:t>Σ 1/(k+rank)</a:t>
            </a:r>
            <a:r>
              <a:rPr lang="en-IN" sz="2400" dirty="0"/>
              <a:t>) rather than normalizing incomparable similarity scores.</a:t>
            </a:r>
          </a:p>
          <a:p>
            <a:pPr lvl="0"/>
            <a:r>
              <a:rPr lang="en-IN" sz="2400" dirty="0"/>
              <a:t>Agentic generation pipeline (</a:t>
            </a:r>
            <a:r>
              <a:rPr lang="en-IN" sz="2400" dirty="0" err="1"/>
              <a:t>LangGraph</a:t>
            </a:r>
            <a:r>
              <a:rPr lang="en-IN" sz="2400" dirty="0"/>
              <a:t>) — </a:t>
            </a:r>
            <a:r>
              <a:rPr lang="en-IN" dirty="0"/>
              <a:t>triage → retrieve → generate → verify</a:t>
            </a:r>
            <a:r>
              <a:rPr lang="en-IN" sz="2400" dirty="0"/>
              <a:t>, where the verify step checks for hallucinated citations or empty answers and triggers one retry with a broadened query before surfacing the result, rather than a single-shot retrieve-then-generate call.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B5251-BEA9-AA19-7728-F4BC1975692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46B56B-1036-3091-042F-CAC149B8E25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77129A-8085-E78D-92CF-3E359EB9FA6D}"/>
              </a:ext>
            </a:extLst>
          </p:cNvPr>
          <p:cNvSpPr txBox="1"/>
          <p:nvPr/>
        </p:nvSpPr>
        <p:spPr>
          <a:xfrm>
            <a:off x="-22947" y="0"/>
            <a:ext cx="11007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dirty="0"/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EE52E343-D5C6-7BEB-35E6-49B745E0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E4515F-950F-9A33-AC34-62D70A0AF14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A6632043-0F5D-1ECE-5E45-DAFC474B0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19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1073-80C2-10B1-B570-94A7FB2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3360D0-B145-3B3B-B4BB-B9581ABA5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Backend &amp; API — Python, </a:t>
            </a:r>
            <a:r>
              <a:rPr lang="en-IN" sz="2400" dirty="0" err="1"/>
              <a:t>FastAPI</a:t>
            </a:r>
            <a:r>
              <a:rPr lang="en-IN" sz="2400" dirty="0"/>
              <a:t> (REST API), </a:t>
            </a:r>
            <a:r>
              <a:rPr lang="en-IN" sz="2400" dirty="0" err="1"/>
              <a:t>Pydantic</a:t>
            </a:r>
            <a:r>
              <a:rPr lang="en-IN" sz="2400" dirty="0"/>
              <a:t> (request/response validation), JWT (</a:t>
            </a:r>
            <a:r>
              <a:rPr lang="en-IN" sz="2400" dirty="0" err="1"/>
              <a:t>PyJWT</a:t>
            </a:r>
            <a:r>
              <a:rPr lang="en-IN" sz="2400" dirty="0"/>
              <a:t>) for auth tokens.</a:t>
            </a:r>
          </a:p>
          <a:p>
            <a:pPr lvl="0"/>
            <a:r>
              <a:rPr lang="en-IN" sz="2400" dirty="0"/>
              <a:t>RAG &amp; AI pipeline — </a:t>
            </a:r>
            <a:r>
              <a:rPr lang="en-IN" sz="2400" dirty="0" err="1"/>
              <a:t>LangGraph</a:t>
            </a:r>
            <a:r>
              <a:rPr lang="en-IN" sz="2400" dirty="0"/>
              <a:t> (agentic </a:t>
            </a:r>
            <a:r>
              <a:rPr lang="en-IN" sz="2400" dirty="0" err="1"/>
              <a:t>triage→retrieve→generate→verify</a:t>
            </a:r>
            <a:r>
              <a:rPr lang="en-IN" sz="2400" dirty="0"/>
              <a:t> graph), </a:t>
            </a:r>
            <a:r>
              <a:rPr lang="en-IN" sz="2400" dirty="0" err="1"/>
              <a:t>Groq</a:t>
            </a:r>
            <a:r>
              <a:rPr lang="en-IN" sz="2400" dirty="0"/>
              <a:t> (LLM inference), </a:t>
            </a:r>
            <a:r>
              <a:rPr lang="en-IN" sz="2400" dirty="0" err="1"/>
              <a:t>ChromaDB</a:t>
            </a:r>
            <a:r>
              <a:rPr lang="en-IN" sz="2400" dirty="0"/>
              <a:t> (vector store), sentence-transformers (embeddings), tree-sitter + Python </a:t>
            </a:r>
            <a:r>
              <a:rPr lang="en-IN" dirty="0"/>
              <a:t>ast</a:t>
            </a:r>
            <a:r>
              <a:rPr lang="en-IN" sz="2400" dirty="0"/>
              <a:t> (AST-based code chunking).</a:t>
            </a:r>
          </a:p>
          <a:p>
            <a:pPr lvl="0"/>
            <a:r>
              <a:rPr lang="en-IN" sz="2400" dirty="0"/>
              <a:t>Data &amp; infrastructure — PostgreSQL (users, history, full-text search via </a:t>
            </a:r>
            <a:r>
              <a:rPr lang="en-IN" dirty="0"/>
              <a:t>tsvector</a:t>
            </a:r>
            <a:r>
              <a:rPr lang="en-IN" sz="2400" dirty="0"/>
              <a:t>), Redis + RQ (background job queue for ingestion), psycopg2 (DB driver).</a:t>
            </a:r>
          </a:p>
          <a:p>
            <a:pPr lvl="0"/>
            <a:r>
              <a:rPr lang="en-IN" sz="2400" dirty="0"/>
              <a:t>Auth &amp; integrations — GitHub OAuth, Google OAuth, Stripe (billing/credits), SMTP (email verification).</a:t>
            </a:r>
          </a:p>
          <a:p>
            <a:pPr lvl="0"/>
            <a:r>
              <a:rPr lang="en-IN" sz="2400" dirty="0"/>
              <a:t>Frontend — React, Vite.</a:t>
            </a:r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0F82E-4C79-A599-A7FD-E62F2254E84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 Used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34A347-D89C-2035-853C-D1BA095B592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DE57AA-75C1-74B4-CDDF-1E96B480EE3A}"/>
              </a:ext>
            </a:extLst>
          </p:cNvPr>
          <p:cNvSpPr txBox="1"/>
          <p:nvPr/>
        </p:nvSpPr>
        <p:spPr>
          <a:xfrm>
            <a:off x="2025618" y="10449"/>
            <a:ext cx="934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09D3D281-3D9C-34A6-305F-90B467177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268E04-A318-68FA-0D2A-7B013E2394B8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95D6C852-DFC6-02E3-DF41-C2096F946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0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7413-4557-1296-FD59-6E106CB9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564B9E-AD29-5877-9B4B-7E6E06FE4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Hybrid retrieval (dense + sparse + RRF) outperformed either method alone, catching both conceptual queries and exact identifiers.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AST-based chunking produced cleaner, more citable results than fixed-window splitting, once generated files (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lockfiles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were filtered out.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Queue-based ingestion (Redis + RQ) proved necessary, not just theoretical — a real repo (Flask, 1,217 chunks) took ~60s, which would risk timeouts running inline.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Full end-to-end testing surfaced real integration bugs (missing route, port mismatch, status-string mismatch) that unit-level testing alone wouldn't have caught.</a:t>
            </a:r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D63B0-9044-F0A5-F299-B7FA4C51734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6B9AB-2BD6-0F8D-2904-4E87A3AF36A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E75349D6-45C6-2EB0-79C0-1946D65DB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121BB1-CAF1-8BFD-C071-6A706CE0E4B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C83B94AF-E9F2-5519-09EE-82314B8D7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51DF0-8664-E91F-1AEB-93A7AB8941D4}"/>
              </a:ext>
            </a:extLst>
          </p:cNvPr>
          <p:cNvSpPr txBox="1"/>
          <p:nvPr/>
        </p:nvSpPr>
        <p:spPr>
          <a:xfrm>
            <a:off x="1268281" y="0"/>
            <a:ext cx="9748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746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4F73-4D90-D4E1-E82F-3AFB4177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473A4B-E89E-977B-04C8-7A95033FA4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586234" cy="4142989"/>
          </a:xfrm>
        </p:spPr>
        <p:txBody>
          <a:bodyPr/>
          <a:lstStyle/>
          <a:p>
            <a:pPr lvl="0"/>
            <a:r>
              <a:rPr lang="en-IN" sz="2400" dirty="0" err="1"/>
              <a:t>CodeSage</a:t>
            </a:r>
            <a:r>
              <a:rPr lang="en-IN" sz="2400" dirty="0"/>
              <a:t> demonstrates that a hybrid retrieval-augmented generation approach — combining AST-aware chunking, dense + sparse retrieval fused via RRF, and an agentic verify-and-retry generation loop — produces more accurate, better-cited answers over a codebase than either naive text-splitting or single-method retrieval alone. Beyond the core RAG pipeline, the project required solving real infrastructure problems — moving off single-process storage (SQLite, pickle files) onto Postgres and Redis/RQ, and building secure multi-provider authentication with explicit non-merge-by-email protections — to make the system usable by more than one person at a time. End-to-end testing against a live deployment surfaced and resolved integration issues that isolated component testing wouldn't have caught, reinforcing that a RAG system's reliability depends as much on its surrounding infrastructure (job queues, auth, data isolation) as on the retrieval and generation logic itself. The result is a working, multi-tenant codebase Q&amp;A system supporting both public and private GitHub repositories, with clear, identified next steps (token refresh handling, a repo-picker UI, deployment hardening) rather than open-ended unknowns.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3E76F-9616-ACDF-00BF-70226EAE902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5A7FC4-1401-1543-6123-CCF4A9D7804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FC3D7E-7EA7-5607-374F-C970DBD37161}"/>
              </a:ext>
            </a:extLst>
          </p:cNvPr>
          <p:cNvSpPr txBox="1"/>
          <p:nvPr/>
        </p:nvSpPr>
        <p:spPr>
          <a:xfrm>
            <a:off x="2796091" y="40880"/>
            <a:ext cx="8894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F3FB59DA-665E-152A-B18A-B57F5559D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B8BA21-0342-1E30-47E5-5CA0C6E8F6A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413C9E3F-B4D4-BC2E-B04F-84D262432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9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E3CB3-EEEC-67FA-B891-A4ECF4E8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82129E-92A1-32DA-53D9-594594B757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I would like to express my sincere gratitude to everyone who supported the completion of this project, </a:t>
            </a:r>
            <a:r>
              <a:rPr lang="en-IN" sz="2400" dirty="0" err="1"/>
              <a:t>CodeSage</a:t>
            </a:r>
            <a:r>
              <a:rPr lang="en-IN" sz="2400" dirty="0"/>
              <a:t>.</a:t>
            </a:r>
          </a:p>
          <a:p>
            <a:r>
              <a:rPr lang="en-IN" sz="2400" dirty="0"/>
              <a:t>I am thankful to [Guide/Mentor's Name], [Designation], for their valuable guidance, continuous support, and insightful feedback throughout the development of this project.</a:t>
            </a:r>
          </a:p>
          <a:p>
            <a:r>
              <a:rPr lang="en-IN" sz="2400" dirty="0"/>
              <a:t>I would also like to thank [Department Name / HOD's Name] and the faculty of [Institution Name] for providing the necessary resources, infrastructure, and encouragement that made this work possible.</a:t>
            </a:r>
          </a:p>
          <a:p>
            <a:r>
              <a:rPr lang="en-IN" sz="2400" dirty="0"/>
              <a:t>I extend my appreciation to my peers and friends for their suggestions and support during testing and debugging, which helped identify and resolve several real-world integration issues.</a:t>
            </a:r>
          </a:p>
          <a:p>
            <a:r>
              <a:rPr lang="en-IN" sz="2400" dirty="0"/>
              <a:t>Finally, I am grateful to my family for their constant encouragement and support throughout this </a:t>
            </a:r>
            <a:r>
              <a:rPr lang="en-IN" sz="2400" dirty="0" err="1"/>
              <a:t>endeavor</a:t>
            </a:r>
            <a:r>
              <a:rPr lang="en-IN" sz="2400" dirty="0"/>
              <a:t>.</a:t>
            </a:r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D28E2-B30F-8692-78AF-88A5912E04A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9341FA-23F9-AEF5-A985-5E9D15827BB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8C43DC-6AC4-58C8-DEC7-0555A8D221BE}"/>
              </a:ext>
            </a:extLst>
          </p:cNvPr>
          <p:cNvSpPr txBox="1"/>
          <p:nvPr/>
        </p:nvSpPr>
        <p:spPr>
          <a:xfrm>
            <a:off x="2827927" y="-2000"/>
            <a:ext cx="8894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FB8816F0-4F37-A2BE-AAB0-DBC57936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173AEB9-1B9B-F87F-4511-5A696B36A20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32DBAAE6-7BFE-581C-A7EA-8DC2CDC3E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44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5CE2-F920-E1E1-3EDA-7B23D4E8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56D3BB-EC14-F23C-2BA7-3015151EC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27126"/>
            <a:ext cx="11721145" cy="4142989"/>
          </a:xfrm>
        </p:spPr>
        <p:txBody>
          <a:bodyPr/>
          <a:lstStyle/>
          <a:p>
            <a:pPr lvl="0"/>
            <a:r>
              <a:rPr lang="en-IN" sz="2400" dirty="0" err="1"/>
              <a:t>FastAPI</a:t>
            </a:r>
            <a:r>
              <a:rPr lang="en-IN" sz="2400" dirty="0"/>
              <a:t> Documentation. Ramírez, S. </a:t>
            </a:r>
            <a:r>
              <a:rPr lang="en-IN" sz="2400" i="1" dirty="0" err="1"/>
              <a:t>FastAPI</a:t>
            </a:r>
            <a:r>
              <a:rPr lang="en-IN" sz="2400" i="1" dirty="0"/>
              <a:t>: Modern, Fast Web Framework for Building APIs with Python</a:t>
            </a:r>
            <a:r>
              <a:rPr lang="en-IN" sz="2400" dirty="0"/>
              <a:t>. </a:t>
            </a:r>
            <a:r>
              <a:rPr lang="en-IN" sz="2400" dirty="0">
                <a:hlinkClick r:id="rId2"/>
              </a:rPr>
              <a:t>https://fastapi.tiangolo.com</a:t>
            </a:r>
            <a:endParaRPr lang="en-IN" sz="2400" dirty="0"/>
          </a:p>
          <a:p>
            <a:pPr lvl="0"/>
            <a:r>
              <a:rPr lang="en-IN" sz="2400" dirty="0" err="1"/>
              <a:t>LangChain</a:t>
            </a:r>
            <a:r>
              <a:rPr lang="en-IN" sz="2400" dirty="0"/>
              <a:t> AI. </a:t>
            </a:r>
            <a:r>
              <a:rPr lang="en-IN" sz="2400" i="1" dirty="0" err="1"/>
              <a:t>LangGraph</a:t>
            </a:r>
            <a:r>
              <a:rPr lang="en-IN" sz="2400" i="1" dirty="0"/>
              <a:t> Documentation</a:t>
            </a:r>
            <a:r>
              <a:rPr lang="en-IN" sz="2400" dirty="0"/>
              <a:t>. </a:t>
            </a:r>
            <a:r>
              <a:rPr lang="en-IN" sz="2400" dirty="0">
                <a:hlinkClick r:id="rId3"/>
              </a:rPr>
              <a:t>https://langchain-ai.github.io/langgraph/</a:t>
            </a:r>
            <a:endParaRPr lang="en-IN" sz="2400" dirty="0"/>
          </a:p>
          <a:p>
            <a:pPr lvl="0"/>
            <a:r>
              <a:rPr lang="en-IN" sz="2400" dirty="0"/>
              <a:t>Tree-sitter. </a:t>
            </a:r>
            <a:r>
              <a:rPr lang="en-IN" sz="2400" i="1" dirty="0"/>
              <a:t>Tree-sitter: An Incremental Parsing System for Programming Tools</a:t>
            </a:r>
            <a:r>
              <a:rPr lang="en-IN" sz="2400" dirty="0"/>
              <a:t>. </a:t>
            </a:r>
            <a:r>
              <a:rPr lang="en-IN" sz="2400" dirty="0">
                <a:hlinkClick r:id="rId4"/>
              </a:rPr>
              <a:t>https://tree-sitter.github.io/tree-sitter/</a:t>
            </a:r>
            <a:endParaRPr lang="en-IN" sz="2400" dirty="0"/>
          </a:p>
          <a:p>
            <a:pPr lvl="0"/>
            <a:r>
              <a:rPr lang="en-IN" sz="2400" dirty="0"/>
              <a:t>GitHub, Inc. </a:t>
            </a:r>
            <a:r>
              <a:rPr lang="en-IN" sz="2400" i="1" dirty="0"/>
              <a:t>GitHub OAuth Apps Documentation</a:t>
            </a:r>
            <a:r>
              <a:rPr lang="en-IN" sz="2400" dirty="0"/>
              <a:t>. </a:t>
            </a:r>
            <a:r>
              <a:rPr lang="en-IN" sz="2400" dirty="0">
                <a:hlinkClick r:id="rId5"/>
              </a:rPr>
              <a:t>https://docs.github.com/en/apps/oauth-apps</a:t>
            </a:r>
            <a:endParaRPr lang="en-IN" sz="2400" dirty="0"/>
          </a:p>
          <a:p>
            <a:pPr lvl="0"/>
            <a:r>
              <a:rPr lang="en-IN" sz="2400" dirty="0"/>
              <a:t>Google LLC. </a:t>
            </a:r>
            <a:r>
              <a:rPr lang="en-IN" sz="2400" i="1" dirty="0"/>
              <a:t>Google Identity — OAuth 2.0 Documentation</a:t>
            </a:r>
            <a:r>
              <a:rPr lang="en-IN" sz="2400" dirty="0"/>
              <a:t>. </a:t>
            </a:r>
            <a:r>
              <a:rPr lang="en-IN" sz="2400" dirty="0">
                <a:hlinkClick r:id="rId6"/>
              </a:rPr>
              <a:t>https://developers.google.com/identity/protocols/oauth2</a:t>
            </a:r>
            <a:endParaRPr lang="en-IN" sz="2400" dirty="0"/>
          </a:p>
          <a:p>
            <a:pPr lvl="0"/>
            <a:r>
              <a:rPr lang="en-IN" sz="2400" dirty="0"/>
              <a:t>Stripe, Inc. </a:t>
            </a:r>
            <a:r>
              <a:rPr lang="en-IN" sz="2400" i="1" dirty="0"/>
              <a:t>Stripe API Documentation</a:t>
            </a:r>
            <a:r>
              <a:rPr lang="en-IN" sz="2400" dirty="0"/>
              <a:t>. </a:t>
            </a:r>
            <a:r>
              <a:rPr lang="en-IN" sz="2400" dirty="0">
                <a:hlinkClick r:id="rId7"/>
              </a:rPr>
              <a:t>https://docs.stripe.com</a:t>
            </a:r>
            <a:endParaRPr lang="en-IN" sz="2400" dirty="0"/>
          </a:p>
          <a:p>
            <a:pPr lvl="0"/>
            <a:r>
              <a:rPr lang="en-IN" sz="2400" dirty="0"/>
              <a:t>Grinberg, M. (2018). </a:t>
            </a:r>
            <a:r>
              <a:rPr lang="en-IN" sz="2400" i="1" dirty="0"/>
              <a:t>Flask Web Development: Developing Web Applications with Python</a:t>
            </a:r>
            <a:r>
              <a:rPr lang="en-IN" sz="2400" dirty="0"/>
              <a:t> (2nd ed.). O'Reilly Media. </a:t>
            </a:r>
            <a:r>
              <a:rPr lang="en-IN" sz="2400" i="1" dirty="0"/>
              <a:t>(reference repository used for testing)</a:t>
            </a:r>
            <a:endParaRPr lang="en-IN" sz="2400" dirty="0"/>
          </a:p>
          <a:p>
            <a:pPr lvl="0"/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4F4C9-22D6-92DC-7FEB-494583159E4C}"/>
              </a:ext>
            </a:extLst>
          </p:cNvPr>
          <p:cNvSpPr txBox="1"/>
          <p:nvPr/>
        </p:nvSpPr>
        <p:spPr>
          <a:xfrm>
            <a:off x="255996" y="41993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228999-5329-6A2F-B5C4-F45F5BF6655D}"/>
              </a:ext>
            </a:extLst>
          </p:cNvPr>
          <p:cNvCxnSpPr>
            <a:cxnSpLocks/>
          </p:cNvCxnSpPr>
          <p:nvPr/>
        </p:nvCxnSpPr>
        <p:spPr>
          <a:xfrm>
            <a:off x="255996" y="106626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88331C-24B2-A71D-17D5-F467D6BE43CD}"/>
              </a:ext>
            </a:extLst>
          </p:cNvPr>
          <p:cNvSpPr txBox="1"/>
          <p:nvPr/>
        </p:nvSpPr>
        <p:spPr>
          <a:xfrm>
            <a:off x="2273291" y="0"/>
            <a:ext cx="944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WYFE: A Multimodal Personal Agent for Scheduling notes and Messaging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33468EE4-DFFA-664E-C190-F864DD812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1F19D4-AC61-A864-2410-72965F6FE8B1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3" name="Picture 6" descr="LTM Limited (Formerly LTIMindtree Limited)">
            <a:extLst>
              <a:ext uri="{FF2B5EF4-FFF2-40B4-BE49-F238E27FC236}">
                <a16:creationId xmlns:a16="http://schemas.microsoft.com/office/drawing/2014/main" id="{03C3AFAF-D943-972F-7854-A98ED659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48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7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3013</Words>
  <Application>Microsoft Office PowerPoint</Application>
  <PresentationFormat>Widescreen</PresentationFormat>
  <Paragraphs>172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Saikrishnan P</cp:lastModifiedBy>
  <cp:revision>22</cp:revision>
  <dcterms:created xsi:type="dcterms:W3CDTF">2024-05-13T10:33:11Z</dcterms:created>
  <dcterms:modified xsi:type="dcterms:W3CDTF">2026-10-08T05:18:30Z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