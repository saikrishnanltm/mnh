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489" r:id="rId2"/>
    <p:sldId id="2147470492" r:id="rId3"/>
    <p:sldId id="2147470493" r:id="rId4"/>
    <p:sldId id="2147470494" r:id="rId5"/>
    <p:sldId id="2147470495" r:id="rId6"/>
    <p:sldId id="2147470496" r:id="rId7"/>
    <p:sldId id="2147470497" r:id="rId8"/>
    <p:sldId id="2147470491" r:id="rId9"/>
    <p:sldId id="2147470487" r:id="rId10"/>
    <p:sldId id="2147470498" r:id="rId11"/>
    <p:sldId id="2147470499" r:id="rId12"/>
    <p:sldId id="2147470500" r:id="rId13"/>
    <p:sldId id="2147470501" r:id="rId14"/>
    <p:sldId id="2147470503" r:id="rId15"/>
    <p:sldId id="2147470504" r:id="rId16"/>
    <p:sldId id="2147470506" r:id="rId17"/>
    <p:sldId id="2147470507" r:id="rId18"/>
    <p:sldId id="2147470508" r:id="rId19"/>
    <p:sldId id="2147470509" r:id="rId20"/>
    <p:sldId id="2147470510" r:id="rId21"/>
    <p:sldId id="2147470511" r:id="rId22"/>
    <p:sldId id="2147470512" r:id="rId23"/>
    <p:sldId id="2147470514" r:id="rId24"/>
    <p:sldId id="2147470515" r:id="rId25"/>
    <p:sldId id="2147470516" r:id="rId26"/>
    <p:sldId id="2147470517" r:id="rId27"/>
    <p:sldId id="2147470518" r:id="rId28"/>
    <p:sldId id="2147470519" r:id="rId29"/>
    <p:sldId id="2147470520" r:id="rId30"/>
    <p:sldId id="2147470521" r:id="rId31"/>
    <p:sldId id="214747052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B9ED"/>
    <a:srgbClr val="30BBDA"/>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10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hyperlink" Target="https://huggingface.co/papers/2308.11432.md" TargetMode="External"/><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334616" y="1542814"/>
            <a:ext cx="11428184" cy="535531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SAIKRISHNAN P</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extLst>
              <p:ext uri="{D42A27DB-BD31-4B8C-83A1-F6EECF244321}">
                <p14:modId xmlns:p14="http://schemas.microsoft.com/office/powerpoint/2010/main" val="3527000795"/>
              </p:ext>
            </p:extLst>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7DF0C71D-D9A7-2E72-176A-2DAF9A8E5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453" y="5340187"/>
            <a:ext cx="5181827" cy="1872376"/>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392546" y="1234637"/>
            <a:ext cx="10624338" cy="6317458"/>
          </a:xfrm>
        </p:spPr>
        <p:txBody>
          <a:bodyPr/>
          <a:lstStyle/>
          <a:p>
            <a:pPr>
              <a:spcAft>
                <a:spcPts val="1600"/>
              </a:spcAft>
              <a:buSzPct val="100000"/>
            </a:pPr>
            <a:r>
              <a:rPr lang="en-IN" dirty="0" err="1"/>
              <a:t>CodeSage</a:t>
            </a:r>
            <a:r>
              <a:rPr lang="en-IN" dirty="0"/>
              <a:t> is a RAG tool that answers natural-language questions about any GitHub repo by chunking its code (AST-aware for Python/JS/TS/Java/notebooks), indexing it with hybrid vector + keyword search, and generating cited answers via an LLM agent pipeline. </a:t>
            </a:r>
          </a:p>
          <a:p>
            <a:pPr>
              <a:spcAft>
                <a:spcPts val="1600"/>
              </a:spcAft>
              <a:buSzPct val="100000"/>
            </a:pPr>
            <a:r>
              <a:rPr lang="en-IN" dirty="0"/>
              <a:t>It runs as a </a:t>
            </a:r>
            <a:r>
              <a:rPr lang="en-IN" dirty="0" err="1"/>
              <a:t>FastAPI</a:t>
            </a:r>
            <a:r>
              <a:rPr lang="en-IN" dirty="0"/>
              <a:t> service — /ingest a repo, /query it in plain English — deployable via Docker, and is currently live and fully verified end-to-end on your own Railway deployment.</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
        <p:nvSpPr>
          <p:cNvPr id="6" name="Rectangle 5">
            <a:extLst>
              <a:ext uri="{FF2B5EF4-FFF2-40B4-BE49-F238E27FC236}">
                <a16:creationId xmlns:a16="http://schemas.microsoft.com/office/drawing/2014/main" id="{E78BCCFA-EF04-B2CC-C841-FEA7F8E80249}"/>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1E1CD245-7E67-BEF3-30D0-C20486857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spcAft>
                <a:spcPts val="1600"/>
              </a:spcAft>
              <a:buSzPct val="100000"/>
            </a:pPr>
            <a:r>
              <a:rPr lang="en-IN" sz="2400" dirty="0"/>
              <a:t>Lets developers query a codebase in plain English instead of manually searching or reading through unfamiliar source files, getting answers grounded in the actual code with file/line citations.</a:t>
            </a:r>
          </a:p>
          <a:p>
            <a:pPr>
              <a:spcAft>
                <a:spcPts val="1600"/>
              </a:spcAft>
              <a:buSzPct val="100000"/>
            </a:pPr>
            <a:r>
              <a:rPr lang="en-IN" sz="2400" dirty="0"/>
              <a:t>Do this accurately and verifiably — using AST-aware chunking (not blind text splitting) and hybrid retrieval, with an LLM verify step that checks the answer is actually supported by the retrieved code before returning it.</a:t>
            </a:r>
          </a:p>
          <a:p>
            <a:pPr>
              <a:spcAft>
                <a:spcPts val="1600"/>
              </a:spcAft>
              <a:buSzPct val="100000"/>
            </a:pPr>
            <a:r>
              <a:rPr lang="en-IN" sz="2400" dirty="0"/>
              <a:t>Make it practically deployable and usable, not just a local script — packaged as a </a:t>
            </a:r>
            <a:r>
              <a:rPr lang="en-IN" sz="2400" dirty="0" err="1"/>
              <a:t>FastAPI</a:t>
            </a:r>
            <a:r>
              <a:rPr lang="en-IN" sz="2400" dirty="0"/>
              <a:t> service with async, non-blocking ingestion (so real-sized repos don't time out), persistent storage across restarts, and repo management endpoints, all runnable in production (as verified on your own Railway deployment).</a:t>
            </a:r>
            <a:endParaRPr lang="en-US" sz="2400" b="0" dirty="0">
              <a:solidFill>
                <a:srgbClr val="5583D1"/>
              </a:solidFill>
              <a:latin typeface="+mn-lt"/>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D549017-0E91-F5C7-E849-0D494C0313E7}"/>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72D1A61C-8BDB-B51A-40AE-E9C0B25CB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DF76CF2-A00C-F785-FADC-227139C244F6}"/>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919718"/>
          </a:xfrm>
        </p:spPr>
        <p:txBody>
          <a:bodyPr/>
          <a:lstStyle/>
          <a:p>
            <a:pPr>
              <a:spcAft>
                <a:spcPts val="1600"/>
              </a:spcAft>
              <a:buSzPct val="100000"/>
            </a:pPr>
            <a:r>
              <a:rPr lang="en-IN" sz="2400" dirty="0"/>
              <a:t>What it handles: ingesting GitHub repos (or local folders) across multiple languages — Python, JS/TS, Java, HTML/CSS/SCSS, and Jupyter notebooks — chunking them intelligently, indexing with hybrid (vector + keyword) search, and answering natural-language questions with cited, LLM-generated responses via a </a:t>
            </a:r>
            <a:r>
              <a:rPr lang="en-IN" sz="2400" dirty="0" err="1"/>
              <a:t>FastAPI</a:t>
            </a:r>
            <a:r>
              <a:rPr lang="en-IN" sz="2400" dirty="0"/>
              <a:t> service.</a:t>
            </a:r>
          </a:p>
          <a:p>
            <a:pPr>
              <a:spcAft>
                <a:spcPts val="1600"/>
              </a:spcAft>
              <a:buSzPct val="100000"/>
            </a:pPr>
            <a:r>
              <a:rPr lang="en-IN" sz="2400" dirty="0"/>
              <a:t>What it manages: multiple repos indexed side-by-side (filterable per-repo at query time), with endpoints to list, re-ingest, and delete indexed repos, plus persistent storage so data survives restarts/redeploys.</a:t>
            </a:r>
          </a:p>
          <a:p>
            <a:pPr>
              <a:spcAft>
                <a:spcPts val="1600"/>
              </a:spcAft>
              <a:buSzPct val="100000"/>
            </a:pPr>
            <a:r>
              <a:rPr lang="en-IN" sz="2400" dirty="0"/>
              <a:t>What it doesn't cover: live/deployed websites (only repo source code, not crawling a running site), non-code file types beyond what's explicitly chunked, and it's a single-instance design — no multi-user auth, no distributed/multi-replica job queue (the in-memory job tracking assumes one instance).</a:t>
            </a: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AutoShape 2" descr="LTIMindtree Logo">
            <a:extLst>
              <a:ext uri="{FF2B5EF4-FFF2-40B4-BE49-F238E27FC236}">
                <a16:creationId xmlns:a16="http://schemas.microsoft.com/office/drawing/2014/main" id="{23863276-72E5-30AB-392D-D8D21A2E79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Rectangle 8">
            <a:extLst>
              <a:ext uri="{FF2B5EF4-FFF2-40B4-BE49-F238E27FC236}">
                <a16:creationId xmlns:a16="http://schemas.microsoft.com/office/drawing/2014/main" id="{53632E79-658D-9E93-B5C2-C0CA952E704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30" name="Picture 6" descr="LTM Limited (Formerly LTIMindtree Limited)">
            <a:extLst>
              <a:ext uri="{FF2B5EF4-FFF2-40B4-BE49-F238E27FC236}">
                <a16:creationId xmlns:a16="http://schemas.microsoft.com/office/drawing/2014/main" id="{71A73E9E-CECD-2252-34B1-1B287A4B83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8A45FDD-B79A-FAC6-CB15-A8AA0B6013AB}"/>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433ECB-8EAD-0AB5-1D66-62BCF658AA2C}"/>
              </a:ext>
            </a:extLst>
          </p:cNvPr>
          <p:cNvSpPr>
            <a:spLocks noGrp="1"/>
          </p:cNvSpPr>
          <p:nvPr>
            <p:ph type="body" sz="quarter" idx="13"/>
          </p:nvPr>
        </p:nvSpPr>
        <p:spPr>
          <a:xfrm>
            <a:off x="255996" y="1271219"/>
            <a:ext cx="11216534" cy="4142989"/>
          </a:xfrm>
        </p:spPr>
        <p:txBody>
          <a:bodyPr/>
          <a:lstStyle/>
          <a:p>
            <a:pPr marL="0" indent="0">
              <a:lnSpc>
                <a:spcPct val="150000"/>
              </a:lnSpc>
              <a:buNone/>
            </a:pPr>
            <a:endParaRPr lang="en-US" sz="1300" b="0" dirty="0">
              <a:solidFill>
                <a:srgbClr val="5583D1"/>
              </a:solidFill>
              <a:latin typeface="+mn-lt"/>
            </a:endParaRPr>
          </a:p>
          <a:p>
            <a:pPr>
              <a:lnSpc>
                <a:spcPct val="100000"/>
              </a:lnSpc>
            </a:pPr>
            <a:r>
              <a:rPr lang="en-US" b="0" dirty="0">
                <a:solidFill>
                  <a:srgbClr val="5583D1"/>
                </a:solidFill>
                <a:latin typeface="+mn-lt"/>
              </a:rPr>
              <a:t>Enterprise AI Must Enforce Participant-Aware Access Control (2025)</a:t>
            </a:r>
          </a:p>
          <a:p>
            <a:pPr marL="0" indent="0">
              <a:lnSpc>
                <a:spcPct val="100000"/>
              </a:lnSpc>
              <a:buNone/>
            </a:pPr>
            <a:r>
              <a:rPr lang="en-US" sz="2400" b="0" dirty="0">
                <a:solidFill>
                  <a:srgbClr val="5583D1"/>
                </a:solidFill>
                <a:latin typeface="+mn-lt"/>
              </a:rPr>
              <a:t>     Identifies data leakage and unauthorized access risks in enterprise RAG.</a:t>
            </a:r>
          </a:p>
          <a:p>
            <a:pPr marL="0" indent="0">
              <a:lnSpc>
                <a:spcPct val="100000"/>
              </a:lnSpc>
              <a:buNone/>
            </a:pPr>
            <a:endParaRPr lang="en-US" sz="2400" b="0" dirty="0">
              <a:solidFill>
                <a:srgbClr val="5583D1"/>
              </a:solidFill>
              <a:latin typeface="+mn-lt"/>
            </a:endParaRPr>
          </a:p>
          <a:p>
            <a:pPr>
              <a:lnSpc>
                <a:spcPct val="100000"/>
              </a:lnSpc>
            </a:pPr>
            <a:r>
              <a:rPr lang="en-US" b="0" dirty="0">
                <a:solidFill>
                  <a:srgbClr val="5583D1"/>
                </a:solidFill>
                <a:latin typeface="+mn-lt"/>
              </a:rPr>
              <a:t>Provably Secure Retrieval-Augmented Generation (2025)</a:t>
            </a:r>
          </a:p>
          <a:p>
            <a:pPr marL="0" indent="0">
              <a:lnSpc>
                <a:spcPct val="100000"/>
              </a:lnSpc>
              <a:buNone/>
            </a:pPr>
            <a:r>
              <a:rPr lang="en-US" sz="2400" b="0" dirty="0">
                <a:solidFill>
                  <a:srgbClr val="5583D1"/>
                </a:solidFill>
                <a:latin typeface="+mn-lt"/>
              </a:rPr>
              <a:t>    Uses role-aware retrieval and validation to prevent unauthorized information access.</a:t>
            </a:r>
          </a:p>
          <a:p>
            <a:pPr marL="0" indent="0">
              <a:lnSpc>
                <a:spcPct val="100000"/>
              </a:lnSpc>
              <a:buNone/>
            </a:pPr>
            <a:endParaRPr lang="en-US" sz="2400" b="0" dirty="0">
              <a:solidFill>
                <a:srgbClr val="5583D1"/>
              </a:solidFill>
              <a:latin typeface="+mn-lt"/>
            </a:endParaRPr>
          </a:p>
          <a:p>
            <a:pPr>
              <a:lnSpc>
                <a:spcPct val="100000"/>
              </a:lnSpc>
            </a:pPr>
            <a:r>
              <a:rPr lang="en-US" b="0" dirty="0">
                <a:solidFill>
                  <a:srgbClr val="5583D1"/>
                </a:solidFill>
                <a:latin typeface="+mn-lt"/>
              </a:rPr>
              <a:t>AI-Driven Filtering for Role-Based Access Control (2025)</a:t>
            </a:r>
          </a:p>
          <a:p>
            <a:pPr marL="0" indent="0">
              <a:lnSpc>
                <a:spcPct val="100000"/>
              </a:lnSpc>
              <a:buNone/>
            </a:pPr>
            <a:r>
              <a:rPr lang="en-US" sz="2400" b="0" dirty="0">
                <a:solidFill>
                  <a:srgbClr val="5583D1"/>
                </a:solidFill>
                <a:latin typeface="+mn-lt"/>
              </a:rPr>
              <a:t>    Focuses on confidentiality and integrity in RAG.</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75410BF-B4C4-99E4-35F5-40F8DD991A55}"/>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F7670379-0AD4-EBD9-8789-3B3BAF88A9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3C244CF-9B35-13B2-891A-A58F95626B19}"/>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47AA17C-FCAD-A298-06DE-E306ACF48D6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3BEDBD5B-E67C-7B6B-7835-B458F355F7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F399A00-A386-A75A-5596-8DBF03012231}"/>
              </a:ext>
            </a:extLst>
          </p:cNvPr>
          <p:cNvSpPr txBox="1"/>
          <p:nvPr/>
        </p:nvSpPr>
        <p:spPr>
          <a:xfrm>
            <a:off x="487062" y="1651421"/>
            <a:ext cx="11368240" cy="3801041"/>
          </a:xfrm>
          <a:prstGeom prst="rect">
            <a:avLst/>
          </a:prstGeom>
          <a:noFill/>
        </p:spPr>
        <p:txBody>
          <a:bodyPr wrap="square">
            <a:spAutoFit/>
          </a:bodyPr>
          <a:lstStyle/>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RAG improves enterprise document question answering by retrieving relevant information before LLM generation.</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Recent research highlights security risks such as unauthorized retrieval, data leakage, prompt injection, and retrieval poisoning.</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RBAC-based approaches provide role-aware access control to prevent users from accessing restricted enterprise documents.</a:t>
            </a:r>
          </a:p>
          <a:p>
            <a:pPr marL="342900" indent="-342900">
              <a:spcBef>
                <a:spcPts val="1000"/>
              </a:spcBef>
              <a:buFont typeface="Arial" panose="020B0604020202020204" pitchFamily="34" charset="0"/>
              <a:buChar char="•"/>
            </a:pPr>
            <a:r>
              <a:rPr lang="en-IN" sz="2400" dirty="0">
                <a:solidFill>
                  <a:srgbClr val="5583D1"/>
                </a:solidFill>
                <a:cs typeface="Calibri" panose="020F0502020204030204" pitchFamily="34" charset="0"/>
              </a:rPr>
              <a:t>Research Gap: Existing methods often address retrieval, security, and access control separately; the proposed work combines RBAC + RAG + Cross-Encoder Reranking for secure and relevant document intelligence.</a:t>
            </a:r>
          </a:p>
        </p:txBody>
      </p:sp>
      <p:sp>
        <p:nvSpPr>
          <p:cNvPr id="4" name="TextBox 3">
            <a:extLst>
              <a:ext uri="{FF2B5EF4-FFF2-40B4-BE49-F238E27FC236}">
                <a16:creationId xmlns:a16="http://schemas.microsoft.com/office/drawing/2014/main" id="{ADE9A1B3-D280-C282-C665-6D232AC1EE49}"/>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527018"/>
            <a:ext cx="10624338" cy="4142989"/>
          </a:xfrm>
        </p:spPr>
        <p:txBody>
          <a:bodyPr/>
          <a:lstStyle/>
          <a:p>
            <a:pPr marL="355600" indent="-355600">
              <a:lnSpc>
                <a:spcPct val="105000"/>
              </a:lnSpc>
              <a:spcAft>
                <a:spcPts val="1600"/>
              </a:spcAft>
              <a:buSzPct val="100000"/>
              <a:buChar char="▪"/>
            </a:pPr>
            <a:r>
              <a:rPr lang="en-US" sz="2400" b="0" dirty="0">
                <a:solidFill>
                  <a:srgbClr val="5583D1"/>
                </a:solidFill>
                <a:latin typeface="+mn-lt"/>
              </a:rPr>
              <a:t>Dataset: 80 documents, 7 departments, 4 confidentiality tiers.</a:t>
            </a:r>
          </a:p>
          <a:p>
            <a:pPr marL="355600" indent="-355600">
              <a:lnSpc>
                <a:spcPct val="105000"/>
              </a:lnSpc>
              <a:spcAft>
                <a:spcPts val="1600"/>
              </a:spcAft>
              <a:buSzPct val="100000"/>
              <a:buChar char="▪"/>
            </a:pPr>
            <a:r>
              <a:rPr lang="en-US" sz="2400" b="0" dirty="0">
                <a:solidFill>
                  <a:srgbClr val="5583D1"/>
                </a:solidFill>
                <a:latin typeface="+mn-lt"/>
              </a:rPr>
              <a:t>Passwords hashed with salted PBKDF2-HMAC-SHA256 (200k iterations).</a:t>
            </a:r>
          </a:p>
          <a:p>
            <a:pPr marL="355600" indent="-355600">
              <a:lnSpc>
                <a:spcPct val="105000"/>
              </a:lnSpc>
              <a:spcAft>
                <a:spcPts val="1600"/>
              </a:spcAft>
              <a:buSzPct val="100000"/>
              <a:buChar char="▪"/>
            </a:pPr>
            <a:r>
              <a:rPr lang="en-US" sz="2400" b="0" dirty="0">
                <a:solidFill>
                  <a:srgbClr val="5583D1"/>
                </a:solidFill>
                <a:latin typeface="+mn-lt"/>
              </a:rPr>
              <a:t>Every login attempt and query is logged for audit purposes.</a:t>
            </a:r>
          </a:p>
          <a:p>
            <a:pPr marL="355600" indent="-355600">
              <a:lnSpc>
                <a:spcPct val="105000"/>
              </a:lnSpc>
              <a:spcAft>
                <a:spcPts val="1600"/>
              </a:spcAft>
              <a:buSzPct val="100000"/>
              <a:buChar char="▪"/>
            </a:pPr>
            <a:r>
              <a:rPr lang="en-US" sz="2400" b="0" dirty="0">
                <a:solidFill>
                  <a:srgbClr val="5583D1"/>
                </a:solidFill>
                <a:latin typeface="+mn-lt"/>
              </a:rPr>
              <a:t>Two frontends: a </a:t>
            </a:r>
            <a:r>
              <a:rPr lang="en-US" sz="2400" b="0" dirty="0" err="1">
                <a:solidFill>
                  <a:srgbClr val="5583D1"/>
                </a:solidFill>
                <a:latin typeface="+mn-lt"/>
              </a:rPr>
              <a:t>Streamlit</a:t>
            </a:r>
            <a:r>
              <a:rPr lang="en-US" sz="2400" b="0" dirty="0">
                <a:solidFill>
                  <a:srgbClr val="5583D1"/>
                </a:solidFill>
                <a:latin typeface="+mn-lt"/>
              </a:rPr>
              <a:t> UI and a full Node.js/Express app.</a:t>
            </a:r>
          </a:p>
          <a:p>
            <a:pPr marL="0" indent="0">
              <a:lnSpc>
                <a:spcPct val="150000"/>
              </a:lnSpc>
              <a:buNone/>
            </a:pPr>
            <a:endParaRPr lang="en-US" sz="2400" b="0" dirty="0">
              <a:solidFill>
                <a:schemeClr val="accent5">
                  <a:lumMod val="75000"/>
                </a:schemeClr>
              </a:solidFill>
              <a:latin typeface="+mn-lt"/>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8547CF6-2DB6-043B-0D57-69B3AD0899A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B581111-F34F-9970-D173-3E257F9431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150ECA2-6D35-1AD0-7DDC-B583C02FA9A0}"/>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C5B63B2D-7B75-C470-2E06-DBCE99141014}"/>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4316486-4CBB-6223-6F62-CBC22688DB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A1C0A09B-4A68-05FE-7C52-AF4AB962A397}"/>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A0BF02D0-F07E-9D7D-2B77-A3B35A98442D}"/>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39080F93-4354-390A-EBBE-306BE59734B4}"/>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2F563EB3-0A20-29B0-F3BE-999A345787DD}"/>
              </a:ext>
            </a:extLst>
          </p:cNvPr>
          <p:cNvSpPr txBox="1"/>
          <p:nvPr/>
        </p:nvSpPr>
        <p:spPr>
          <a:xfrm>
            <a:off x="1335399" y="155464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Data Ingestion  Chunking</a:t>
            </a:r>
            <a:endParaRPr lang="en-US" sz="1500" dirty="0"/>
          </a:p>
        </p:txBody>
      </p:sp>
      <p:sp>
        <p:nvSpPr>
          <p:cNvPr id="13" name="Shape 8">
            <a:extLst>
              <a:ext uri="{FF2B5EF4-FFF2-40B4-BE49-F238E27FC236}">
                <a16:creationId xmlns:a16="http://schemas.microsoft.com/office/drawing/2014/main" id="{4C591075-74BE-6B88-2A10-A2FDF00DF565}"/>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A17FCF80-8FA0-E4B4-AB0C-5944343B231B}"/>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28CFD482-69F8-742A-CD65-E42D8B4DE873}"/>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F22BD0E9-CA5E-B269-A0D1-CDA4A760740D}"/>
              </a:ext>
            </a:extLst>
          </p:cNvPr>
          <p:cNvSpPr txBox="1"/>
          <p:nvPr/>
        </p:nvSpPr>
        <p:spPr>
          <a:xfrm>
            <a:off x="6972675" y="1554641"/>
            <a:ext cx="4311396" cy="1024128"/>
          </a:xfrm>
          <a:prstGeom prst="rect">
            <a:avLst/>
          </a:prstGeom>
          <a:noFill/>
          <a:ln/>
        </p:spPr>
        <p:txBody>
          <a:bodyPr wrap="square" lIns="0" tIns="0" rIns="0" bIns="0" rtlCol="0" anchor="ctr"/>
          <a:lstStyle/>
          <a:p>
            <a:r>
              <a:rPr lang="en-US" sz="1500" b="1" dirty="0">
                <a:solidFill>
                  <a:srgbClr val="2A2E43"/>
                </a:solidFill>
                <a:latin typeface="Calibri" pitchFamily="34" charset="0"/>
                <a:ea typeface="Calibri" pitchFamily="34" charset="-122"/>
                <a:cs typeface="Calibri" pitchFamily="34" charset="-120"/>
              </a:rPr>
              <a:t>Code Chunking</a:t>
            </a:r>
            <a:endParaRPr lang="en-US" sz="1500" dirty="0"/>
          </a:p>
        </p:txBody>
      </p:sp>
      <p:sp>
        <p:nvSpPr>
          <p:cNvPr id="17" name="Shape 12">
            <a:extLst>
              <a:ext uri="{FF2B5EF4-FFF2-40B4-BE49-F238E27FC236}">
                <a16:creationId xmlns:a16="http://schemas.microsoft.com/office/drawing/2014/main" id="{2896E952-EF91-A459-D08B-E75A49CA8B1B}"/>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E9CB7F38-3360-8E62-6EF5-6F078A1E3920}"/>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E3458C21-6AF0-A10D-86D1-1FF94A7EBC12}"/>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92950EE7-3CC0-4089-4E74-0C9C031B3FE5}"/>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Embedding Generation</a:t>
            </a:r>
            <a:endParaRPr lang="en-US" sz="1500" dirty="0"/>
          </a:p>
        </p:txBody>
      </p:sp>
      <p:sp>
        <p:nvSpPr>
          <p:cNvPr id="21" name="Shape 16">
            <a:extLst>
              <a:ext uri="{FF2B5EF4-FFF2-40B4-BE49-F238E27FC236}">
                <a16:creationId xmlns:a16="http://schemas.microsoft.com/office/drawing/2014/main" id="{B8D64F29-E160-BD9F-007C-F7250E7C23F0}"/>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CF27F0C2-C498-66C7-9920-674B07F3C892}"/>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D5F7D005-20B8-7278-051A-6F72FCF4A831}"/>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7B18C14D-1A79-F962-BDB7-CFCA36ACF276}"/>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Vector Database</a:t>
            </a:r>
            <a:endParaRPr lang="en-US" sz="1500" dirty="0"/>
          </a:p>
        </p:txBody>
      </p:sp>
      <p:sp>
        <p:nvSpPr>
          <p:cNvPr id="25" name="Shape 20">
            <a:extLst>
              <a:ext uri="{FF2B5EF4-FFF2-40B4-BE49-F238E27FC236}">
                <a16:creationId xmlns:a16="http://schemas.microsoft.com/office/drawing/2014/main" id="{AD4B2FEB-D721-B5B8-F97D-A9B74EA160E3}"/>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A43CB245-E08D-594A-21A2-C8F1316C25CB}"/>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B82726FD-8D87-2925-EB11-D83636FB8FC2}"/>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65500CE8-B7CA-5114-FF69-057793ACABF3}"/>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Keyword Indexing</a:t>
            </a:r>
            <a:endParaRPr lang="en-US" sz="1500" dirty="0"/>
          </a:p>
        </p:txBody>
      </p:sp>
      <p:sp>
        <p:nvSpPr>
          <p:cNvPr id="29" name="Shape 24">
            <a:extLst>
              <a:ext uri="{FF2B5EF4-FFF2-40B4-BE49-F238E27FC236}">
                <a16:creationId xmlns:a16="http://schemas.microsoft.com/office/drawing/2014/main" id="{6E9CDA3E-400D-911A-6837-BBC17D798075}"/>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6900283B-AE50-7FCB-EA32-5E82A7B3FD99}"/>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6692C8DB-812B-7221-3792-2BFA63DA9D4F}"/>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C96A6EEB-8DFB-BF21-30B9-724106DE3245}"/>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Hybrid Retrieval</a:t>
            </a:r>
            <a:endParaRPr lang="en-US" sz="1500" dirty="0"/>
          </a:p>
        </p:txBody>
      </p:sp>
      <p:sp>
        <p:nvSpPr>
          <p:cNvPr id="33" name="Shape 28">
            <a:extLst>
              <a:ext uri="{FF2B5EF4-FFF2-40B4-BE49-F238E27FC236}">
                <a16:creationId xmlns:a16="http://schemas.microsoft.com/office/drawing/2014/main" id="{CC124553-56F4-E6BF-F834-778F8585C7B1}"/>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2D3BA62B-94C7-C20B-AE12-ADBE13330335}"/>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343C3D93-274B-78C7-5C3A-B1334C69ADFC}"/>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76A0DD45-803F-C074-3185-7871DEB98D04}"/>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Answer Generation &amp; Verification</a:t>
            </a:r>
            <a:endParaRPr lang="en-US" sz="1500" dirty="0"/>
          </a:p>
        </p:txBody>
      </p:sp>
      <p:sp>
        <p:nvSpPr>
          <p:cNvPr id="37" name="Shape 32">
            <a:extLst>
              <a:ext uri="{FF2B5EF4-FFF2-40B4-BE49-F238E27FC236}">
                <a16:creationId xmlns:a16="http://schemas.microsoft.com/office/drawing/2014/main" id="{AB4BAD79-BCE7-CA02-4904-AD55CD988481}"/>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C93BAD41-348D-B7D0-74DD-5FC2FD5381B4}"/>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9AFFDC99-7B64-D5E2-E919-CE6B7B76E20D}"/>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C057E582-1514-A263-ED8E-C0F864DB53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API &amp; Deployment</a:t>
            </a:r>
            <a:endParaRPr lang="en-US" sz="1500" dirty="0"/>
          </a:p>
        </p:txBody>
      </p:sp>
      <p:sp>
        <p:nvSpPr>
          <p:cNvPr id="4" name="TextBox 3">
            <a:extLst>
              <a:ext uri="{FF2B5EF4-FFF2-40B4-BE49-F238E27FC236}">
                <a16:creationId xmlns:a16="http://schemas.microsoft.com/office/drawing/2014/main" id="{7D418163-3765-6391-12E8-8ADCDAEA35E0}"/>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a:t>
            </a:r>
            <a:r>
              <a:rPr lang="en-IN" dirty="0"/>
              <a:t>Repository Ingestion</a:t>
            </a:r>
            <a:endParaRPr lang="en-US" dirty="0">
              <a:solidFill>
                <a:srgbClr val="5583D1"/>
              </a:solidFill>
              <a:latin typeface="+mn-lt"/>
            </a:endParaRPr>
          </a:p>
          <a:p>
            <a:pPr lvl="1"/>
            <a:r>
              <a:rPr lang="en-IN" dirty="0"/>
              <a:t>GitHub repositories (or local folders) are cloned or read directly, then walked file-by-file against a configurable list of supported extensions. Ingestion runs as an asynchronous background job rather than a blocking request, so cloning and processing a large, real-world repository doesn't time out the HTTP connection — the caller receives a job ID immediately and polls for completion.</a:t>
            </a:r>
            <a:endParaRPr lang="en-US"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1. </a:t>
            </a:r>
            <a:r>
              <a:rPr lang="en-US" sz="3600" b="1" dirty="0">
                <a:solidFill>
                  <a:srgbClr val="5B9BD5">
                    <a:lumMod val="50000"/>
                  </a:srgbClr>
                </a:solidFill>
              </a:rPr>
              <a:t>Data Ingestion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7BDD8723-FBD3-689C-E246-39F806E767DC}"/>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222288F-2592-2931-9AB9-460C9363F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93176B9-7C44-7532-0A31-7CFD0850BF9D}"/>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00AA-51F2-8125-FC5F-E29D327E70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2AB5B8-02D7-2681-5164-9143E9DE3E9A}"/>
              </a:ext>
            </a:extLst>
          </p:cNvPr>
          <p:cNvSpPr>
            <a:spLocks noGrp="1"/>
          </p:cNvSpPr>
          <p:nvPr>
            <p:ph type="body" sz="quarter" idx="13"/>
          </p:nvPr>
        </p:nvSpPr>
        <p:spPr>
          <a:xfrm>
            <a:off x="372140" y="1429138"/>
            <a:ext cx="10508194" cy="444565"/>
          </a:xfrm>
        </p:spPr>
        <p:txBody>
          <a:bodyPr/>
          <a:lstStyle/>
          <a:p>
            <a:pPr marL="0" indent="0">
              <a:buNone/>
            </a:pPr>
            <a:r>
              <a:rPr lang="en-IN" dirty="0"/>
              <a:t>Code Chunking and Segmentation</a:t>
            </a:r>
          </a:p>
          <a:p>
            <a:pPr marL="0" indent="0">
              <a:buNone/>
            </a:pPr>
            <a:r>
              <a:rPr lang="en-IN" dirty="0"/>
              <a:t>Rather than splitting files by raw character count, each source file is parsed into semantically meaningful units. Python files are chunked via Python's own ast module at the function and class boundary; Jupyter notebooks are parsed cell-by-cell, with code cells re-chunked through the same AST logic and markdown cells preserved as explanatory text; JavaScript, TypeScript, Java, HTML, CSS, and SCSS are chunked using tree-sitter grammars for structural awareness in each language. Every chunk retains metadata — repository name, file path, and line range — linking it back to its exact origin in the source code for later citation and per-repo filtering.</a:t>
            </a:r>
            <a:endParaRPr lang="en-US" dirty="0">
              <a:solidFill>
                <a:srgbClr val="5583D1"/>
              </a:solidFill>
              <a:latin typeface="+mn-lt"/>
            </a:endParaRPr>
          </a:p>
        </p:txBody>
      </p:sp>
      <p:sp>
        <p:nvSpPr>
          <p:cNvPr id="3" name="TextBox 2">
            <a:extLst>
              <a:ext uri="{FF2B5EF4-FFF2-40B4-BE49-F238E27FC236}">
                <a16:creationId xmlns:a16="http://schemas.microsoft.com/office/drawing/2014/main" id="{E797C6E4-46C6-EFB7-91E2-E784E95763C9}"/>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2. </a:t>
            </a:r>
            <a:r>
              <a:rPr lang="en-US" sz="3600" b="1" dirty="0">
                <a:solidFill>
                  <a:srgbClr val="5B9BD5">
                    <a:lumMod val="50000"/>
                  </a:srgbClr>
                </a:solidFill>
              </a:rPr>
              <a:t>Vector Database &amp; Embedding Storage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B8ABF908-A2CE-CF4E-FFF5-54A6ADF6689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B2BFC0-931F-FBC5-E358-760279B9BF5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571A73DB-881B-FA12-FD73-FCA54B4D0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419A917-A133-533B-4D35-5ADB0E469776}"/>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39344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3BEB-A551-59AB-8BB8-1BFE7952FF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06473B-A488-41E5-CA66-A10125330724}"/>
              </a:ext>
            </a:extLst>
          </p:cNvPr>
          <p:cNvSpPr>
            <a:spLocks noGrp="1"/>
          </p:cNvSpPr>
          <p:nvPr>
            <p:ph type="body" sz="quarter" idx="13"/>
          </p:nvPr>
        </p:nvSpPr>
        <p:spPr>
          <a:xfrm>
            <a:off x="372140" y="1429138"/>
            <a:ext cx="10508194" cy="444565"/>
          </a:xfrm>
        </p:spPr>
        <p:txBody>
          <a:bodyPr/>
          <a:lstStyle/>
          <a:p>
            <a:pPr marL="0" indent="0">
              <a:buNone/>
            </a:pPr>
            <a:r>
              <a:rPr lang="en-IN" dirty="0"/>
              <a:t>Embedding Generation</a:t>
            </a:r>
            <a:endParaRPr lang="en-US" dirty="0">
              <a:solidFill>
                <a:srgbClr val="5583D1"/>
              </a:solidFill>
              <a:latin typeface="+mn-lt"/>
            </a:endParaRPr>
          </a:p>
          <a:p>
            <a:pPr marL="457200" lvl="1" indent="0" algn="just">
              <a:buNone/>
            </a:pPr>
            <a:endParaRPr lang="en-US" sz="2800" dirty="0">
              <a:solidFill>
                <a:srgbClr val="2A2E43"/>
              </a:solidFill>
              <a:latin typeface="Calibri" pitchFamily="34" charset="0"/>
              <a:ea typeface="Calibri" pitchFamily="34" charset="-122"/>
              <a:cs typeface="Calibri" pitchFamily="34" charset="-120"/>
            </a:endParaRPr>
          </a:p>
          <a:p>
            <a:pPr marL="457200" lvl="1" indent="0" algn="just">
              <a:buNone/>
            </a:pPr>
            <a:r>
              <a:rPr lang="en-IN" sz="2800" dirty="0"/>
              <a:t>Each chunk is converted into a dense vector representation using a </a:t>
            </a:r>
            <a:r>
              <a:rPr lang="en-IN" dirty="0"/>
              <a:t>sentence-transformers</a:t>
            </a:r>
            <a:r>
              <a:rPr lang="en-IN" sz="2800" dirty="0"/>
              <a:t> model (</a:t>
            </a:r>
            <a:r>
              <a:rPr lang="en-IN" dirty="0"/>
              <a:t>all-MiniLM-L6-v2</a:t>
            </a:r>
            <a:r>
              <a:rPr lang="en-IN" sz="2800" dirty="0"/>
              <a:t>), run locally on CPU. This numerical representation captures the semantic meaning of the code, enabling similarity-based retrieval beyond simple keyword matching</a:t>
            </a:r>
            <a:r>
              <a:rPr lang="en-US" sz="2800" dirty="0">
                <a:solidFill>
                  <a:srgbClr val="2A2E43"/>
                </a:solidFill>
                <a:latin typeface="Calibri" pitchFamily="34" charset="0"/>
                <a:ea typeface="Calibri" pitchFamily="34" charset="-122"/>
                <a:cs typeface="Calibri" pitchFamily="34" charset="-120"/>
              </a:rPr>
              <a:t>.</a:t>
            </a:r>
            <a:endParaRPr lang="en-US" dirty="0">
              <a:solidFill>
                <a:srgbClr val="1C3898"/>
              </a:solidFill>
            </a:endParaRPr>
          </a:p>
        </p:txBody>
      </p:sp>
      <p:sp>
        <p:nvSpPr>
          <p:cNvPr id="3" name="TextBox 2">
            <a:extLst>
              <a:ext uri="{FF2B5EF4-FFF2-40B4-BE49-F238E27FC236}">
                <a16:creationId xmlns:a16="http://schemas.microsoft.com/office/drawing/2014/main" id="{6B0A5816-4DA1-2D68-822A-9D9773F5763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3. </a:t>
            </a:r>
            <a:r>
              <a:rPr lang="en-US" sz="3600" b="1" dirty="0">
                <a:solidFill>
                  <a:srgbClr val="5B9BD5">
                    <a:lumMod val="50000"/>
                  </a:srgbClr>
                </a:solidFill>
              </a:rPr>
              <a:t>RBAC Policy Engine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1097C01-08F6-10B8-B4C2-AD99CE2BCC5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5A4A912-549E-9024-111B-B922D89B81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AC9D760-C3FC-A0D8-DBB5-7352460C9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ADE08CA-2E13-B900-F7C6-D344634AA939}"/>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751962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E9FC3-3FF5-C3D3-1E2C-32AC91C77B2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7B6FBDD-F926-9752-7B4F-27CEAADCE94C}"/>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Salted Password Hashing &amp; Session Tokens</a:t>
            </a:r>
          </a:p>
          <a:p>
            <a:pPr marL="0" indent="0">
              <a:buNone/>
            </a:pPr>
            <a:endParaRPr lang="en-IN"/>
          </a:p>
          <a:p>
            <a:pPr marL="0" indent="0">
              <a:buNone/>
            </a:pPr>
            <a:r>
              <a:rPr lang="en-IN"/>
              <a:t>Chunk </a:t>
            </a:r>
            <a:r>
              <a:rPr lang="en-IN" dirty="0"/>
              <a:t>embeddings, along with their metadata, are persisted in </a:t>
            </a:r>
            <a:r>
              <a:rPr lang="en-IN" dirty="0" err="1"/>
              <a:t>ChromaDB</a:t>
            </a:r>
            <a:r>
              <a:rPr lang="en-IN" dirty="0"/>
              <a:t>, a disk-backed vector database mounted on a persistent volume. This ensures the index survives container restarts or redeployments, and supports fast approximate-nearest-</a:t>
            </a:r>
            <a:r>
              <a:rPr lang="en-IN" dirty="0" err="1"/>
              <a:t>neighbor</a:t>
            </a:r>
            <a:r>
              <a:rPr lang="en-IN" dirty="0"/>
              <a:t> search at query time.</a:t>
            </a:r>
            <a:endParaRPr lang="en-US" dirty="0">
              <a:solidFill>
                <a:srgbClr val="5583D1"/>
              </a:solidFill>
              <a:latin typeface="+mn-lt"/>
            </a:endParaRPr>
          </a:p>
        </p:txBody>
      </p:sp>
      <p:sp>
        <p:nvSpPr>
          <p:cNvPr id="3" name="TextBox 2">
            <a:extLst>
              <a:ext uri="{FF2B5EF4-FFF2-40B4-BE49-F238E27FC236}">
                <a16:creationId xmlns:a16="http://schemas.microsoft.com/office/drawing/2014/main" id="{EEE0A45A-3509-55A5-0ECB-9E15819190F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4. </a:t>
            </a:r>
            <a:r>
              <a:rPr lang="en-US" sz="3600" b="1" dirty="0">
                <a:solidFill>
                  <a:srgbClr val="5B9BD5">
                    <a:lumMod val="50000"/>
                  </a:srgbClr>
                </a:solidFill>
              </a:rPr>
              <a:t>Secure Authentication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F274488-6EC8-4661-62D6-D6DA942AE8A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E8CE4EE-D19B-3F51-20AD-4330F2A2503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20F0E7A-B6C2-BAF3-0ED4-DF18D3BCC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8BCE2B-574A-2203-4C3D-FA9C615C6CE5}"/>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32384669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57BC-0B59-D641-42D7-5EC9EE0D6A6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D43E42-68BE-E7D9-92C6-894C9F14BFE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 Two-Layer Access Enforcement</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user's query is filtered at the database level using a metadata WHERE clause, then re-checked in application code before any chunk reaches the language model. This defense-in-depth approach keeps unauthorized content out even if one layer is misconfigured.</a:t>
            </a:r>
            <a:endParaRPr lang="en-US" dirty="0">
              <a:solidFill>
                <a:srgbClr val="1C3898"/>
              </a:solidFill>
            </a:endParaRPr>
          </a:p>
        </p:txBody>
      </p:sp>
      <p:sp>
        <p:nvSpPr>
          <p:cNvPr id="3" name="TextBox 2">
            <a:extLst>
              <a:ext uri="{FF2B5EF4-FFF2-40B4-BE49-F238E27FC236}">
                <a16:creationId xmlns:a16="http://schemas.microsoft.com/office/drawing/2014/main" id="{5B6819DA-A2AB-BB7A-0C94-959C24A58AD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5. </a:t>
            </a:r>
            <a:r>
              <a:rPr lang="en-US" sz="3600" b="1" dirty="0">
                <a:solidFill>
                  <a:srgbClr val="5B9BD5">
                    <a:lumMod val="50000"/>
                  </a:srgbClr>
                </a:solidFill>
              </a:rPr>
              <a:t>RBAC-Filtered Retrieval</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C925C36-CA53-8797-EB73-9543F85AF54C}"/>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BE57332-62A3-B9CD-5653-83AD99EFDEF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888DD588-F436-0E73-4AA2-349DD8B68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625308E-95E8-A22F-817A-7B3707B3DBA2}"/>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3892768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72A05-1F6C-08BC-2745-8EBFF8704FE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660CA3F-644B-7F8B-3166-5C786A3039DF}"/>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Grounded LLM Responses</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Only RBAC-approved chunks are passed to the language model, which is instructed to answer strictly from the provided context and cite sources. When no API key is configured, the system falls back to an extractive answer built directly from the retrieved chunks.</a:t>
            </a:r>
            <a:endParaRPr lang="en-US" dirty="0">
              <a:solidFill>
                <a:srgbClr val="1C3898"/>
              </a:solidFill>
            </a:endParaRPr>
          </a:p>
        </p:txBody>
      </p:sp>
      <p:sp>
        <p:nvSpPr>
          <p:cNvPr id="3" name="TextBox 2">
            <a:extLst>
              <a:ext uri="{FF2B5EF4-FFF2-40B4-BE49-F238E27FC236}">
                <a16:creationId xmlns:a16="http://schemas.microsoft.com/office/drawing/2014/main" id="{11E05005-A3AD-CF6A-51F3-CCD7AA9FDBB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6. </a:t>
            </a:r>
            <a:r>
              <a:rPr lang="en-US" sz="3600" b="1" dirty="0">
                <a:solidFill>
                  <a:srgbClr val="5B9BD5">
                    <a:lumMod val="50000"/>
                  </a:srgbClr>
                </a:solidFill>
              </a:rPr>
              <a:t>RAG Answer Generation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44761E6-8CC7-192B-C938-D5D587DA6D5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0F244FC-EB57-8FE0-8B2C-DD00D132243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037856BF-388B-753F-2D15-8676B6B1C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236DBCC-E6FC-0CCA-3DD3-273EDB2C95EA}"/>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733997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D28A2-05D7-4FCD-3B9E-A48F90CB71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080C6DB-C118-2F02-8677-F3DF28DAD651}"/>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User Management and Login Monitoring</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Administrators can add or remove user accounts and assign roles through a dedicated panel. Every login attempt is logged with timestamp, username, result, and IP address, and the full history can be exported as a CSV file.</a:t>
            </a:r>
            <a:endParaRPr lang="en-US" dirty="0">
              <a:solidFill>
                <a:srgbClr val="1C3898"/>
              </a:solidFill>
            </a:endParaRPr>
          </a:p>
        </p:txBody>
      </p:sp>
      <p:sp>
        <p:nvSpPr>
          <p:cNvPr id="3" name="TextBox 2">
            <a:extLst>
              <a:ext uri="{FF2B5EF4-FFF2-40B4-BE49-F238E27FC236}">
                <a16:creationId xmlns:a16="http://schemas.microsoft.com/office/drawing/2014/main" id="{A220A575-A5D9-8425-3C05-30EEDE43F10F}"/>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7. </a:t>
            </a:r>
            <a:r>
              <a:rPr lang="en-US" sz="3600" b="1" dirty="0">
                <a:solidFill>
                  <a:srgbClr val="5B9BD5">
                    <a:lumMod val="50000"/>
                  </a:srgbClr>
                </a:solidFill>
              </a:rPr>
              <a:t>Admin &amp; Audit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8747BEF2-693B-178B-FD37-60AD38E69C7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AD2CEFB-F775-257D-97A2-5FC8D21CA59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78F45002-822E-6B96-BF80-C0D0AE2795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622BEF7-DD40-0728-83F7-F22D65E8CFB8}"/>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4200129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29C80-05A9-AAF8-8BAF-D5959AA916F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09221B-83E0-9821-1C07-866607D80735}"/>
              </a:ext>
            </a:extLst>
          </p:cNvPr>
          <p:cNvSpPr>
            <a:spLocks noGrp="1"/>
          </p:cNvSpPr>
          <p:nvPr>
            <p:ph type="body" sz="quarter" idx="13"/>
          </p:nvPr>
        </p:nvSpPr>
        <p:spPr>
          <a:xfrm>
            <a:off x="372140" y="1429138"/>
            <a:ext cx="10508194" cy="444565"/>
          </a:xfrm>
        </p:spPr>
        <p:txBody>
          <a:bodyPr/>
          <a:lstStyle/>
          <a:p>
            <a:pPr marL="0" indent="0">
              <a:buNone/>
            </a:pPr>
            <a:r>
              <a:rPr lang="en-US" dirty="0">
                <a:solidFill>
                  <a:srgbClr val="5583D1"/>
                </a:solidFill>
                <a:latin typeface="+mn-lt"/>
              </a:rPr>
              <a:t>Express-Based User Interface</a:t>
            </a:r>
          </a:p>
          <a:p>
            <a:pPr marL="0" indent="0">
              <a:buNone/>
            </a:pPr>
            <a:endParaRPr lang="en-US" dirty="0">
              <a:solidFill>
                <a:srgbClr val="5583D1"/>
              </a:solidFill>
              <a:latin typeface="+mn-lt"/>
            </a:endParaRPr>
          </a:p>
          <a:p>
            <a:pPr lvl="1" algn="just"/>
            <a:r>
              <a:rPr lang="en-US" sz="2800" dirty="0">
                <a:solidFill>
                  <a:srgbClr val="2A2E43"/>
                </a:solidFill>
                <a:latin typeface="Calibri" pitchFamily="34" charset="0"/>
                <a:ea typeface="Calibri" pitchFamily="34" charset="-122"/>
                <a:cs typeface="Calibri" pitchFamily="34" charset="-120"/>
              </a:rPr>
              <a:t>A Node.js/Express server provides login, chat, and admin pages, proxying requests to the Python backend while keeping session tokens server-side. Answers render with Markdown formatting, and each source document displays its department and confidentiality label.</a:t>
            </a:r>
            <a:endParaRPr lang="en-US" dirty="0">
              <a:solidFill>
                <a:srgbClr val="1C3898"/>
              </a:solidFill>
            </a:endParaRPr>
          </a:p>
        </p:txBody>
      </p:sp>
      <p:sp>
        <p:nvSpPr>
          <p:cNvPr id="3" name="TextBox 2">
            <a:extLst>
              <a:ext uri="{FF2B5EF4-FFF2-40B4-BE49-F238E27FC236}">
                <a16:creationId xmlns:a16="http://schemas.microsoft.com/office/drawing/2014/main" id="{A5EF7021-586D-2CF8-47C8-9195150D5D44}"/>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8. </a:t>
            </a:r>
            <a:r>
              <a:rPr lang="en-US" sz="3600" b="1" dirty="0">
                <a:solidFill>
                  <a:srgbClr val="5B9BD5">
                    <a:lumMod val="50000"/>
                  </a:srgbClr>
                </a:solidFill>
              </a:rPr>
              <a:t>Web Frontend (Node.js)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2E44CA93-476B-2067-6524-327DEFFCBCC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58C022B-B337-0E18-4125-F8797C661900}"/>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4B795FC3-D0EC-C2C5-A2F2-A7E543253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6EEC71-5B02-40CD-B0F4-65D6F25BB906}"/>
              </a:ext>
            </a:extLst>
          </p:cNvPr>
          <p:cNvSpPr txBox="1"/>
          <p:nvPr/>
        </p:nvSpPr>
        <p:spPr>
          <a:xfrm>
            <a:off x="2158582" y="902"/>
            <a:ext cx="10273260" cy="369332"/>
          </a:xfrm>
          <a:prstGeom prst="rect">
            <a:avLst/>
          </a:prstGeom>
          <a:noFill/>
        </p:spPr>
        <p:txBody>
          <a:bodyPr wrap="square" rtlCol="0">
            <a:spAutoFit/>
          </a:bodyPr>
          <a:lstStyle/>
          <a:p>
            <a:pPr lvl="0" algn="ctr">
              <a:defRPr/>
            </a:pPr>
            <a:r>
              <a:rPr lang="en-US" b="1" dirty="0">
                <a:solidFill>
                  <a:srgbClr val="FFFFFF"/>
                </a:solidFill>
                <a:latin typeface="Calibri" pitchFamily="34" charset="0"/>
                <a:ea typeface="Calibri" pitchFamily="34" charset="-122"/>
                <a:cs typeface="Calibri" pitchFamily="34" charset="-120"/>
              </a:rPr>
              <a:t>CODESAGE: AN EXPLAINABLE AGENTIC RAG SYSTEM FOR  SOFTWARE REPOSITORY COMPREHENSION</a:t>
            </a:r>
          </a:p>
        </p:txBody>
      </p:sp>
    </p:spTree>
    <p:extLst>
      <p:ext uri="{BB962C8B-B14F-4D97-AF65-F5344CB8AC3E}">
        <p14:creationId xmlns:p14="http://schemas.microsoft.com/office/powerpoint/2010/main" val="2591081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65DE-B565-6FF7-E5F5-439447F886A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27B7142-F061-0C40-00AF-4E189E69C0FB}"/>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E761BBBF-E8F0-EB12-6B9E-C21389A2FE91}"/>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0F98B62E-A654-A8AD-EA31-7553E1B4B4D2}"/>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B4C987C8-C420-BB0D-71D4-30D4987EEC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44C105CC-FCD8-E10B-F37D-327521213900}"/>
              </a:ext>
            </a:extLst>
          </p:cNvPr>
          <p:cNvSpPr txBox="1"/>
          <p:nvPr/>
        </p:nvSpPr>
        <p:spPr>
          <a:xfrm>
            <a:off x="334616" y="1542814"/>
            <a:ext cx="11428184" cy="50783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3600" b="1" dirty="0">
              <a:solidFill>
                <a:prstClr val="white"/>
              </a:solidFill>
              <a:cs typeface="Calibri" panose="020F0502020204030204" pitchFamily="34" charset="0"/>
            </a:endParaRPr>
          </a:p>
          <a:p>
            <a:pPr lvl="0" algn="ctr">
              <a:defRPr/>
            </a:pPr>
            <a:r>
              <a:rPr lang="en-US" sz="3600" b="1" dirty="0">
                <a:solidFill>
                  <a:schemeClr val="bg1"/>
                </a:solidFill>
                <a:cs typeface="Arial" panose="020B0604020202020204" pitchFamily="34" charset="0"/>
              </a:rPr>
              <a:t>WYFE: A Multimodal Personal Agent for Scheduling notes and Messaging</a:t>
            </a:r>
          </a:p>
          <a:p>
            <a:pPr lvl="0" algn="ctr">
              <a:defRPr/>
            </a:pPr>
            <a:endParaRPr kumimoji="0" lang="en-US" sz="3600" b="1" i="0" u="none" strike="noStrike" kern="1200" cap="none" spc="0" normalizeH="0" baseline="0" noProof="0" dirty="0">
              <a:ln>
                <a:noFill/>
              </a:ln>
              <a:solidFill>
                <a:schemeClr val="bg1"/>
              </a:solidFill>
              <a:effectLst/>
              <a:uLnTx/>
              <a:uFillTx/>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SAIKRISHNAN P</a:t>
            </a:r>
          </a:p>
          <a:p>
            <a:pPr algn="ctr">
              <a:defRPr/>
            </a:pPr>
            <a:r>
              <a:rPr lang="en-US" sz="2400" b="1" dirty="0">
                <a:solidFill>
                  <a:prstClr val="white"/>
                </a:solidFill>
                <a:cs typeface="Calibri" panose="020F0502020204030204" pitchFamily="34" charset="0"/>
              </a:rPr>
              <a:t>CRESCENT 2025-27</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CEF3C743-1DC7-9D6A-3D6A-9EF598EEA42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9F147578-D884-4AB2-9CC0-8B6B6E1A4E91}"/>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7" name="Picture 6">
            <a:extLst>
              <a:ext uri="{FF2B5EF4-FFF2-40B4-BE49-F238E27FC236}">
                <a16:creationId xmlns:a16="http://schemas.microsoft.com/office/drawing/2014/main" id="{8312A5A6-57BA-68B4-632F-626158AE5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876" y="5315186"/>
            <a:ext cx="5181827" cy="1872376"/>
          </a:xfrm>
          <a:prstGeom prst="rect">
            <a:avLst/>
          </a:prstGeom>
        </p:spPr>
      </p:pic>
    </p:spTree>
    <p:extLst>
      <p:ext uri="{BB962C8B-B14F-4D97-AF65-F5344CB8AC3E}">
        <p14:creationId xmlns:p14="http://schemas.microsoft.com/office/powerpoint/2010/main" val="4015441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C8A3-C7E9-25AA-40CA-EDA14A815E5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9028E8-72BD-78E4-A175-3D8EDB8830D1}"/>
              </a:ext>
            </a:extLst>
          </p:cNvPr>
          <p:cNvSpPr>
            <a:spLocks noGrp="1"/>
          </p:cNvSpPr>
          <p:nvPr>
            <p:ph type="body" sz="quarter" idx="13"/>
          </p:nvPr>
        </p:nvSpPr>
        <p:spPr>
          <a:xfrm>
            <a:off x="392546" y="1234637"/>
            <a:ext cx="10910038" cy="6317458"/>
          </a:xfrm>
        </p:spPr>
        <p:txBody>
          <a:bodyPr/>
          <a:lstStyle/>
          <a:p>
            <a:pPr lvl="0" algn="just"/>
            <a:r>
              <a:rPr lang="en-IN" b="0" dirty="0">
                <a:solidFill>
                  <a:schemeClr val="tx1"/>
                </a:solidFill>
                <a:latin typeface="+mj-lt"/>
              </a:rPr>
              <a:t>What it is: Aria is an agentic AI assistant that lives inside WhatsApp and helps you set, manage, and receive reminders through ordinary chat messages.</a:t>
            </a:r>
          </a:p>
          <a:p>
            <a:pPr lvl="0" algn="just"/>
            <a:r>
              <a:rPr lang="en-IN" b="0" dirty="0">
                <a:solidFill>
                  <a:schemeClr val="tx1"/>
                </a:solidFill>
                <a:latin typeface="+mj-lt"/>
              </a:rPr>
              <a:t>How you use it: You message it in natural language, like "remind me to call the bank tomorrow at 10 AM," and it works out the task, time, and intent without forms or menus.</a:t>
            </a:r>
          </a:p>
          <a:p>
            <a:pPr lvl="0" algn="just"/>
            <a:r>
              <a:rPr lang="en-IN" b="0" dirty="0">
                <a:solidFill>
                  <a:schemeClr val="tx1"/>
                </a:solidFill>
                <a:latin typeface="+mj-lt"/>
              </a:rPr>
              <a:t>What makes it agentic: Instead of just replying, Aria acts on its own. It understands the request, schedules the reminder, and sends a nudge at the right time.</a:t>
            </a:r>
          </a:p>
          <a:p>
            <a:pPr lvl="0" algn="just"/>
            <a:r>
              <a:rPr lang="en-IN" b="0" dirty="0">
                <a:solidFill>
                  <a:schemeClr val="tx1"/>
                </a:solidFill>
                <a:latin typeface="+mj-lt"/>
              </a:rPr>
              <a:t>Why it matters: WhatsApp is already where people spend their day, so reminders arrive in a familiar place with no extra app to install.</a:t>
            </a:r>
          </a:p>
          <a:p>
            <a:pPr algn="just">
              <a:spcAft>
                <a:spcPts val="1600"/>
              </a:spcAft>
              <a:buSzPct val="100000"/>
            </a:pPr>
            <a:endParaRPr lang="en-IN" b="0" dirty="0">
              <a:solidFill>
                <a:schemeClr val="tx1"/>
              </a:solidFill>
              <a:latin typeface="+mj-lt"/>
            </a:endParaRPr>
          </a:p>
        </p:txBody>
      </p:sp>
      <p:sp>
        <p:nvSpPr>
          <p:cNvPr id="3" name="TextBox 2">
            <a:extLst>
              <a:ext uri="{FF2B5EF4-FFF2-40B4-BE49-F238E27FC236}">
                <a16:creationId xmlns:a16="http://schemas.microsoft.com/office/drawing/2014/main" id="{9E53EFEC-0767-45E7-F988-392D98B75764}"/>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EB3700CF-0934-EF37-8EE0-291CB67068F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4A141D1-31E4-C5A8-6E25-019D0336A086}"/>
              </a:ext>
            </a:extLst>
          </p:cNvPr>
          <p:cNvSpPr txBox="1"/>
          <p:nvPr/>
        </p:nvSpPr>
        <p:spPr>
          <a:xfrm>
            <a:off x="3387776" y="0"/>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
        <p:nvSpPr>
          <p:cNvPr id="6" name="Rectangle 5">
            <a:extLst>
              <a:ext uri="{FF2B5EF4-FFF2-40B4-BE49-F238E27FC236}">
                <a16:creationId xmlns:a16="http://schemas.microsoft.com/office/drawing/2014/main" id="{D587A8E5-1799-0782-3440-97D99B0C63E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7" name="Picture 6" descr="LTM Limited (Formerly LTIMindtree Limited)">
            <a:extLst>
              <a:ext uri="{FF2B5EF4-FFF2-40B4-BE49-F238E27FC236}">
                <a16:creationId xmlns:a16="http://schemas.microsoft.com/office/drawing/2014/main" id="{B471DF6C-4702-3D09-248C-B0056DDF6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0525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6C5F-C46F-9A21-D414-82DCEC1503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57A5688-005C-38A3-2B21-942310082BB2}"/>
              </a:ext>
            </a:extLst>
          </p:cNvPr>
          <p:cNvSpPr>
            <a:spLocks noGrp="1"/>
          </p:cNvSpPr>
          <p:nvPr>
            <p:ph type="body" sz="quarter" idx="13"/>
          </p:nvPr>
        </p:nvSpPr>
        <p:spPr>
          <a:xfrm>
            <a:off x="255995" y="1271219"/>
            <a:ext cx="10956647" cy="4142989"/>
          </a:xfrm>
        </p:spPr>
        <p:txBody>
          <a:bodyPr/>
          <a:lstStyle/>
          <a:p>
            <a:pPr algn="just"/>
            <a:r>
              <a:rPr lang="en-IN" sz="2400" b="0" dirty="0">
                <a:solidFill>
                  <a:schemeClr val="tx1"/>
                </a:solidFill>
                <a:latin typeface="+mj-lt"/>
              </a:rPr>
              <a:t>The main objective of Aria is to build an agentic AI assistant that manages reminders through natural WhatsApp conversation, with no extra app or manual scheduling.</a:t>
            </a:r>
          </a:p>
          <a:p>
            <a:pPr lvl="0" algn="just"/>
            <a:r>
              <a:rPr lang="en-IN" sz="2400" b="0" dirty="0">
                <a:solidFill>
                  <a:schemeClr val="tx1"/>
                </a:solidFill>
                <a:latin typeface="+mj-lt"/>
              </a:rPr>
              <a:t>Understand natural language: Interpret messages like "remind me to submit the report on Friday evening" and extract the task, date, and time accurately.</a:t>
            </a:r>
          </a:p>
          <a:p>
            <a:pPr lvl="0" algn="just"/>
            <a:r>
              <a:rPr lang="en-IN" sz="2400" b="0" dirty="0">
                <a:solidFill>
                  <a:schemeClr val="tx1"/>
                </a:solidFill>
                <a:latin typeface="+mj-lt"/>
              </a:rPr>
              <a:t>Act autonomously: Create, schedule, update, and cancel reminders on its own, using tools instead of only generating replies.</a:t>
            </a:r>
          </a:p>
          <a:p>
            <a:pPr lvl="0" algn="just"/>
            <a:r>
              <a:rPr lang="en-IN" sz="2400" b="0" dirty="0">
                <a:solidFill>
                  <a:schemeClr val="tx1"/>
                </a:solidFill>
                <a:latin typeface="+mj-lt"/>
              </a:rPr>
              <a:t>Deliver on time: Send each reminder through WhatsApp at the right moment, reliably and consistently.</a:t>
            </a:r>
          </a:p>
          <a:p>
            <a:pPr lvl="0" algn="just"/>
            <a:r>
              <a:rPr lang="en-IN" sz="2400" b="0" dirty="0">
                <a:solidFill>
                  <a:schemeClr val="tx1"/>
                </a:solidFill>
                <a:latin typeface="+mj-lt"/>
              </a:rPr>
              <a:t>Stay simple and accessible: Give users a hassle-free way to stay organized on a platform they already use daily.</a:t>
            </a:r>
          </a:p>
          <a:p>
            <a:pPr algn="just">
              <a:spcAft>
                <a:spcPts val="1600"/>
              </a:spcAft>
              <a:buSzPct val="100000"/>
            </a:pPr>
            <a:endParaRPr lang="en-US" sz="2400" b="0" dirty="0">
              <a:solidFill>
                <a:schemeClr val="tx1"/>
              </a:solidFill>
              <a:latin typeface="+mj-lt"/>
            </a:endParaRPr>
          </a:p>
        </p:txBody>
      </p:sp>
      <p:sp>
        <p:nvSpPr>
          <p:cNvPr id="3" name="TextBox 2">
            <a:extLst>
              <a:ext uri="{FF2B5EF4-FFF2-40B4-BE49-F238E27FC236}">
                <a16:creationId xmlns:a16="http://schemas.microsoft.com/office/drawing/2014/main" id="{A27325A3-FDA8-76AB-2002-1CB7F81E687E}"/>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p>
        </p:txBody>
      </p:sp>
      <p:cxnSp>
        <p:nvCxnSpPr>
          <p:cNvPr id="5" name="Straight Connector 4">
            <a:extLst>
              <a:ext uri="{FF2B5EF4-FFF2-40B4-BE49-F238E27FC236}">
                <a16:creationId xmlns:a16="http://schemas.microsoft.com/office/drawing/2014/main" id="{C9EA7B43-84E3-681D-B2ED-E857084C0E6A}"/>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0C22FA7-A8F9-E0FE-CABD-D550958FBEFA}"/>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9" name="Picture 6" descr="LTM Limited (Formerly LTIMindtree Limited)">
            <a:extLst>
              <a:ext uri="{FF2B5EF4-FFF2-40B4-BE49-F238E27FC236}">
                <a16:creationId xmlns:a16="http://schemas.microsoft.com/office/drawing/2014/main" id="{99C90931-1CB9-6918-9CFC-6B4DB3246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425FBF2-3D42-2805-A632-51DA746D0615}"/>
              </a:ext>
            </a:extLst>
          </p:cNvPr>
          <p:cNvSpPr txBox="1"/>
          <p:nvPr/>
        </p:nvSpPr>
        <p:spPr>
          <a:xfrm>
            <a:off x="3162923" y="-22818"/>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81430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93500-3D15-96DB-6B4B-DD1E7D4D19E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B7F287-DFB8-0723-77A1-4EFDB4F4C21F}"/>
              </a:ext>
            </a:extLst>
          </p:cNvPr>
          <p:cNvSpPr>
            <a:spLocks noGrp="1"/>
          </p:cNvSpPr>
          <p:nvPr>
            <p:ph type="body" sz="quarter" idx="13"/>
          </p:nvPr>
        </p:nvSpPr>
        <p:spPr>
          <a:xfrm>
            <a:off x="255995" y="1271219"/>
            <a:ext cx="11466095" cy="4919718"/>
          </a:xfrm>
        </p:spPr>
        <p:txBody>
          <a:bodyPr/>
          <a:lstStyle/>
          <a:p>
            <a:pPr lvl="0" algn="just">
              <a:lnSpc>
                <a:spcPct val="100000"/>
              </a:lnSpc>
            </a:pPr>
            <a:r>
              <a:rPr lang="en-IN" sz="2400" b="0" dirty="0">
                <a:solidFill>
                  <a:schemeClr val="tx1"/>
                </a:solidFill>
                <a:latin typeface="+mj-lt"/>
              </a:rPr>
              <a:t>Conversational reminder management: Creating, viewing, editing, and deleting reminders through natural-language WhatsApp messages.</a:t>
            </a:r>
          </a:p>
          <a:p>
            <a:pPr lvl="0" algn="just">
              <a:lnSpc>
                <a:spcPct val="100000"/>
              </a:lnSpc>
            </a:pPr>
            <a:r>
              <a:rPr lang="en-IN" sz="2400" b="0" dirty="0">
                <a:solidFill>
                  <a:schemeClr val="tx1"/>
                </a:solidFill>
                <a:latin typeface="+mj-lt"/>
              </a:rPr>
              <a:t>Intent and detail extraction: Parsing the task, date, time, and basic recurrence (e.g., daily, weekly) from free-form text.</a:t>
            </a:r>
          </a:p>
          <a:p>
            <a:pPr lvl="0" algn="just">
              <a:lnSpc>
                <a:spcPct val="100000"/>
              </a:lnSpc>
            </a:pPr>
            <a:r>
              <a:rPr lang="en-IN" sz="2400" b="0" dirty="0">
                <a:solidFill>
                  <a:schemeClr val="tx1"/>
                </a:solidFill>
                <a:latin typeface="+mj-lt"/>
              </a:rPr>
              <a:t>Agentic task handling: Using an LLM with tools to decide what action to take, ask follow-up questions when details are missing, and confirm back to the user.</a:t>
            </a:r>
          </a:p>
          <a:p>
            <a:pPr lvl="0" algn="just">
              <a:lnSpc>
                <a:spcPct val="100000"/>
              </a:lnSpc>
            </a:pPr>
            <a:r>
              <a:rPr lang="en-IN" sz="2400" b="0" dirty="0">
                <a:solidFill>
                  <a:schemeClr val="tx1"/>
                </a:solidFill>
                <a:latin typeface="+mj-lt"/>
              </a:rPr>
              <a:t>Scheduled delivery: Sending reminders through WhatsApp at the requested time.</a:t>
            </a:r>
          </a:p>
          <a:p>
            <a:pPr lvl="0" algn="just">
              <a:lnSpc>
                <a:spcPct val="100000"/>
              </a:lnSpc>
            </a:pPr>
            <a:r>
              <a:rPr lang="en-IN" sz="2400" b="0" dirty="0">
                <a:solidFill>
                  <a:schemeClr val="tx1"/>
                </a:solidFill>
                <a:latin typeface="+mj-lt"/>
              </a:rPr>
              <a:t>Basic user handling: Identifying users by their WhatsApp number and storing their reminders.</a:t>
            </a:r>
          </a:p>
          <a:p>
            <a:pPr algn="just">
              <a:lnSpc>
                <a:spcPct val="100000"/>
              </a:lnSpc>
              <a:spcAft>
                <a:spcPts val="1600"/>
              </a:spcAft>
              <a:buSzPct val="100000"/>
            </a:pPr>
            <a:endParaRPr lang="en-US" sz="2400" b="0" dirty="0">
              <a:solidFill>
                <a:schemeClr val="tx1"/>
              </a:solidFill>
              <a:latin typeface="+mj-lt"/>
            </a:endParaRPr>
          </a:p>
        </p:txBody>
      </p:sp>
      <p:sp>
        <p:nvSpPr>
          <p:cNvPr id="3" name="TextBox 2">
            <a:extLst>
              <a:ext uri="{FF2B5EF4-FFF2-40B4-BE49-F238E27FC236}">
                <a16:creationId xmlns:a16="http://schemas.microsoft.com/office/drawing/2014/main" id="{0519D120-4828-F095-823B-CE871643029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00683669-E890-C597-DC21-98741DEF4D0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AutoShape 2" descr="LTIMindtree Logo">
            <a:extLst>
              <a:ext uri="{FF2B5EF4-FFF2-40B4-BE49-F238E27FC236}">
                <a16:creationId xmlns:a16="http://schemas.microsoft.com/office/drawing/2014/main" id="{E43A3903-70B2-915D-7155-ED4630DCF7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Rectangle 8">
            <a:extLst>
              <a:ext uri="{FF2B5EF4-FFF2-40B4-BE49-F238E27FC236}">
                <a16:creationId xmlns:a16="http://schemas.microsoft.com/office/drawing/2014/main" id="{E98B2F05-D5EE-B809-D437-5326F33F2911}"/>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1030" name="Picture 6" descr="LTM Limited (Formerly LTIMindtree Limited)">
            <a:extLst>
              <a:ext uri="{FF2B5EF4-FFF2-40B4-BE49-F238E27FC236}">
                <a16:creationId xmlns:a16="http://schemas.microsoft.com/office/drawing/2014/main" id="{A26E9448-7A30-E140-81E2-65A499600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E447B4-A2D3-D59F-6167-4803C37697D7}"/>
              </a:ext>
            </a:extLst>
          </p:cNvPr>
          <p:cNvSpPr txBox="1"/>
          <p:nvPr/>
        </p:nvSpPr>
        <p:spPr>
          <a:xfrm>
            <a:off x="3267854" y="-54637"/>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210973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AC1D4-4877-17D4-2113-91DA3FC248A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720C529-968F-B004-FA8C-4433590E8DA5}"/>
              </a:ext>
            </a:extLst>
          </p:cNvPr>
          <p:cNvSpPr>
            <a:spLocks noGrp="1"/>
          </p:cNvSpPr>
          <p:nvPr>
            <p:ph type="body" sz="quarter" idx="13"/>
          </p:nvPr>
        </p:nvSpPr>
        <p:spPr>
          <a:xfrm>
            <a:off x="255996" y="1271219"/>
            <a:ext cx="11216534" cy="4142989"/>
          </a:xfrm>
        </p:spPr>
        <p:txBody>
          <a:bodyPr/>
          <a:lstStyle/>
          <a:p>
            <a:pPr marL="0" indent="0">
              <a:lnSpc>
                <a:spcPct val="150000"/>
              </a:lnSpc>
              <a:buNone/>
            </a:pPr>
            <a:endParaRPr lang="en-US" sz="1300" b="0" dirty="0">
              <a:solidFill>
                <a:schemeClr val="tx1"/>
              </a:solidFill>
              <a:latin typeface="+mn-lt"/>
            </a:endParaRPr>
          </a:p>
          <a:p>
            <a:pPr lvl="0"/>
            <a:r>
              <a:rPr lang="en-IN" sz="2400" b="0" dirty="0">
                <a:solidFill>
                  <a:schemeClr val="tx1"/>
                </a:solidFill>
                <a:latin typeface="+mn-lt"/>
                <a:cs typeface="Arial" panose="020B0604020202020204" pitchFamily="34" charset="0"/>
              </a:rPr>
              <a:t>Yao, S., et al. (2023). </a:t>
            </a:r>
            <a:r>
              <a:rPr lang="en-IN" sz="2400" b="0" dirty="0" err="1">
                <a:solidFill>
                  <a:schemeClr val="tx1"/>
                </a:solidFill>
                <a:latin typeface="+mn-lt"/>
                <a:cs typeface="Arial" panose="020B0604020202020204" pitchFamily="34" charset="0"/>
              </a:rPr>
              <a:t>ReAct</a:t>
            </a:r>
            <a:r>
              <a:rPr lang="en-IN" sz="2400" b="0" dirty="0">
                <a:solidFill>
                  <a:schemeClr val="tx1"/>
                </a:solidFill>
                <a:latin typeface="+mn-lt"/>
                <a:cs typeface="Arial" panose="020B0604020202020204" pitchFamily="34" charset="0"/>
              </a:rPr>
              <a:t>: Synergizing Reasoning and Acting in Language Models. ICLR 2023. arXiv:2210.03629.</a:t>
            </a:r>
          </a:p>
          <a:p>
            <a:pPr lvl="0"/>
            <a:r>
              <a:rPr lang="en-IN" sz="2400" b="0" dirty="0">
                <a:solidFill>
                  <a:schemeClr val="tx1"/>
                </a:solidFill>
                <a:latin typeface="+mn-lt"/>
                <a:cs typeface="Arial" panose="020B0604020202020204" pitchFamily="34" charset="0"/>
              </a:rPr>
              <a:t>Schick, T., et al. (2023). </a:t>
            </a:r>
            <a:r>
              <a:rPr lang="en-IN" sz="2400" b="0" dirty="0" err="1">
                <a:solidFill>
                  <a:schemeClr val="tx1"/>
                </a:solidFill>
                <a:latin typeface="+mn-lt"/>
                <a:cs typeface="Arial" panose="020B0604020202020204" pitchFamily="34" charset="0"/>
              </a:rPr>
              <a:t>Toolformer</a:t>
            </a:r>
            <a:r>
              <a:rPr lang="en-IN" sz="2400" b="0" dirty="0">
                <a:solidFill>
                  <a:schemeClr val="tx1"/>
                </a:solidFill>
                <a:latin typeface="+mn-lt"/>
                <a:cs typeface="Arial" panose="020B0604020202020204" pitchFamily="34" charset="0"/>
              </a:rPr>
              <a:t>: Language Models Can Teach Themselves to Use Tools. </a:t>
            </a:r>
            <a:r>
              <a:rPr lang="en-IN" sz="2400" b="0" dirty="0" err="1">
                <a:solidFill>
                  <a:schemeClr val="tx1"/>
                </a:solidFill>
                <a:latin typeface="+mn-lt"/>
                <a:cs typeface="Arial" panose="020B0604020202020204" pitchFamily="34" charset="0"/>
              </a:rPr>
              <a:t>NeurIPS</a:t>
            </a:r>
            <a:r>
              <a:rPr lang="en-IN" sz="2400" b="0" dirty="0">
                <a:solidFill>
                  <a:schemeClr val="tx1"/>
                </a:solidFill>
                <a:latin typeface="+mn-lt"/>
                <a:cs typeface="Arial" panose="020B0604020202020204" pitchFamily="34" charset="0"/>
              </a:rPr>
              <a:t> 2023. arXiv:2302.04761.</a:t>
            </a:r>
          </a:p>
          <a:p>
            <a:pPr lvl="0"/>
            <a:r>
              <a:rPr lang="en-IN" sz="2400" b="0" dirty="0">
                <a:solidFill>
                  <a:schemeClr val="tx1"/>
                </a:solidFill>
                <a:latin typeface="+mn-lt"/>
                <a:cs typeface="Arial" panose="020B0604020202020204" pitchFamily="34" charset="0"/>
              </a:rPr>
              <a:t>Wang, L., et al. (2025). A Survey on Large Language Model based Autonomous Agents. Frontiers of Computer Science. arXiv:2308.11432.</a:t>
            </a:r>
          </a:p>
          <a:p>
            <a:pPr lvl="0"/>
            <a:r>
              <a:rPr lang="en-IN" sz="2400" b="0" dirty="0">
                <a:solidFill>
                  <a:schemeClr val="tx1"/>
                </a:solidFill>
                <a:latin typeface="+mn-lt"/>
                <a:cs typeface="Arial" panose="020B0604020202020204" pitchFamily="34" charset="0"/>
              </a:rPr>
              <a:t>Chang, A. X., &amp; Manning, C. D. (2012). </a:t>
            </a:r>
            <a:r>
              <a:rPr lang="en-IN" sz="2400" b="0" dirty="0" err="1">
                <a:solidFill>
                  <a:schemeClr val="tx1"/>
                </a:solidFill>
                <a:latin typeface="+mn-lt"/>
                <a:cs typeface="Arial" panose="020B0604020202020204" pitchFamily="34" charset="0"/>
              </a:rPr>
              <a:t>SUTime</a:t>
            </a:r>
            <a:r>
              <a:rPr lang="en-IN" sz="2400" b="0" dirty="0">
                <a:solidFill>
                  <a:schemeClr val="tx1"/>
                </a:solidFill>
                <a:latin typeface="+mn-lt"/>
                <a:cs typeface="Arial" panose="020B0604020202020204" pitchFamily="34" charset="0"/>
              </a:rPr>
              <a:t>: A Library for Recognizing and Normalizing Time Expressions. LREC 2012, pp. 3735-3740.</a:t>
            </a:r>
          </a:p>
          <a:p>
            <a:pPr marL="0" indent="0">
              <a:lnSpc>
                <a:spcPct val="150000"/>
              </a:lnSpc>
              <a:buNone/>
            </a:pPr>
            <a:endParaRPr lang="en-US" sz="2400" b="0" dirty="0">
              <a:solidFill>
                <a:schemeClr val="tx1"/>
              </a:solidFill>
              <a:latin typeface="+mn-lt"/>
            </a:endParaRPr>
          </a:p>
        </p:txBody>
      </p:sp>
      <p:sp>
        <p:nvSpPr>
          <p:cNvPr id="3" name="TextBox 2">
            <a:extLst>
              <a:ext uri="{FF2B5EF4-FFF2-40B4-BE49-F238E27FC236}">
                <a16:creationId xmlns:a16="http://schemas.microsoft.com/office/drawing/2014/main" id="{14B8EC1B-3C4F-6A32-A86A-636DA8D5435E}"/>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8E197786-F786-BF5F-579B-5BC0A805A20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EEB3FC9-CA25-AC61-7CBE-768B52192BE6}"/>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1EC0FDCE-85F8-0449-BF85-7D9B967BB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41C3075-746F-15E0-681D-B7616B6D9E1F}"/>
              </a:ext>
            </a:extLst>
          </p:cNvPr>
          <p:cNvSpPr txBox="1"/>
          <p:nvPr/>
        </p:nvSpPr>
        <p:spPr>
          <a:xfrm>
            <a:off x="3402765" y="-4691"/>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865202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C51CA-8CFA-1047-D716-E0666CFDA6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5333EC-B25D-DB93-07DA-F0055AD2315D}"/>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B9F98B1C-42C3-D1C7-5EA8-FFA3AD7AEC4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C92CDFB-DABA-67C0-A765-9C1D08F7656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5DF4877-80CC-E6C9-00F3-C2BA8E8EB4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9C433BB-14DE-F987-18FD-F1161024AD83}"/>
              </a:ext>
            </a:extLst>
          </p:cNvPr>
          <p:cNvSpPr txBox="1"/>
          <p:nvPr/>
        </p:nvSpPr>
        <p:spPr>
          <a:xfrm>
            <a:off x="517042" y="1498375"/>
            <a:ext cx="11368240" cy="5021888"/>
          </a:xfrm>
          <a:prstGeom prst="rect">
            <a:avLst/>
          </a:prstGeom>
          <a:noFill/>
        </p:spPr>
        <p:txBody>
          <a:bodyPr wrap="square">
            <a:spAutoFit/>
          </a:bodyPr>
          <a:lstStyle/>
          <a:p>
            <a:pPr lvl="0" algn="just"/>
            <a:r>
              <a:rPr lang="en-IN" sz="2400" b="1" dirty="0"/>
              <a:t>Reason plus act:</a:t>
            </a:r>
            <a:r>
              <a:rPr lang="en-IN" sz="2400" dirty="0"/>
              <a:t> </a:t>
            </a:r>
            <a:r>
              <a:rPr lang="en-IN" sz="2400" dirty="0" err="1"/>
              <a:t>ReAct</a:t>
            </a:r>
            <a:r>
              <a:rPr lang="en-IN" sz="2400" dirty="0"/>
              <a:t> interleaves reasoning traces with task-specific actions, which reduces hallucination and error propagation and makes the model's behaviour easier to interpret. This is the decision loop  follows for each message. </a:t>
            </a:r>
          </a:p>
          <a:p>
            <a:pPr lvl="0" algn="just"/>
            <a:r>
              <a:rPr lang="en-IN" sz="2400" b="1" dirty="0"/>
              <a:t>Tool use:</a:t>
            </a:r>
            <a:r>
              <a:rPr lang="en-IN" sz="2400" dirty="0"/>
              <a:t> </a:t>
            </a:r>
            <a:r>
              <a:rPr lang="en-IN" sz="2400" dirty="0" err="1"/>
              <a:t>Toolformer</a:t>
            </a:r>
            <a:r>
              <a:rPr lang="en-IN" sz="2400" dirty="0"/>
              <a:t> shows that language models can learn which APIs to call, when to call them, and what arguments to pass, including a calendar tool. This supports giving  reminder tools to call. </a:t>
            </a:r>
          </a:p>
          <a:p>
            <a:pPr lvl="0" algn="just"/>
            <a:r>
              <a:rPr lang="en-IN" sz="2400" b="1" dirty="0"/>
              <a:t>Agent architecture:</a:t>
            </a:r>
            <a:r>
              <a:rPr lang="en-IN" sz="2400" dirty="0"/>
              <a:t> The Wang et al. survey describes LLM agents as made up of profiling, memory, planning, and action modules. WYFE tools, stored reminders, and follow-up questions map onto these modules. </a:t>
            </a:r>
            <a:r>
              <a:rPr lang="en-IN" sz="2400" dirty="0" err="1">
                <a:hlinkClick r:id="rId3">
                  <a:extLst>
                    <a:ext uri="{A12FA001-AC4F-418D-AE19-62706E023703}">
                      <ahyp:hlinkClr xmlns:ahyp="http://schemas.microsoft.com/office/drawing/2018/hyperlinkcolor" val="tx"/>
                    </a:ext>
                  </a:extLst>
                </a:hlinkClick>
              </a:rPr>
              <a:t>huggingface</a:t>
            </a:r>
            <a:endParaRPr lang="en-IN" sz="2400" dirty="0"/>
          </a:p>
          <a:p>
            <a:pPr lvl="0" algn="just"/>
            <a:r>
              <a:rPr lang="en-IN" sz="2400" b="1" dirty="0"/>
              <a:t>Time understanding:</a:t>
            </a:r>
            <a:r>
              <a:rPr lang="en-IN" sz="2400" dirty="0"/>
              <a:t> </a:t>
            </a:r>
            <a:r>
              <a:rPr lang="en-IN" sz="2400" dirty="0" err="1"/>
              <a:t>SUTime</a:t>
            </a:r>
            <a:r>
              <a:rPr lang="en-IN" sz="2400" dirty="0"/>
              <a:t> is a rule-based tagger that recognizes and normalizes time expressions in text. It is precise but rigid, so an LLM is better for informal phrasing, provided it is given the current date and time zone.</a:t>
            </a:r>
          </a:p>
          <a:p>
            <a:pPr marL="342900" indent="-342900" algn="just">
              <a:spcBef>
                <a:spcPts val="1000"/>
              </a:spcBef>
              <a:buFont typeface="Arial" panose="020B0604020202020204" pitchFamily="34" charset="0"/>
              <a:buChar char="•"/>
            </a:pPr>
            <a:endParaRPr lang="en-IN" sz="2400" dirty="0">
              <a:cs typeface="Calibri" panose="020F0502020204030204" pitchFamily="34" charset="0"/>
            </a:endParaRPr>
          </a:p>
        </p:txBody>
      </p:sp>
      <p:sp>
        <p:nvSpPr>
          <p:cNvPr id="4" name="TextBox 3">
            <a:extLst>
              <a:ext uri="{FF2B5EF4-FFF2-40B4-BE49-F238E27FC236}">
                <a16:creationId xmlns:a16="http://schemas.microsoft.com/office/drawing/2014/main" id="{50F829A8-FEC1-7561-F461-4697C34D014F}"/>
              </a:ext>
            </a:extLst>
          </p:cNvPr>
          <p:cNvSpPr txBox="1"/>
          <p:nvPr/>
        </p:nvSpPr>
        <p:spPr>
          <a:xfrm>
            <a:off x="3147933" y="0"/>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711392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4452A-6844-7BA2-60FF-A8CB31CCFF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4FFD74-461C-5405-F0DC-5CC5B23DFBE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10961D03-44FF-5D29-D900-FAC1F11BD00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F5E9187-958C-11F5-CED3-D4390945055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C1AC697C-9A1A-ACD6-37E0-474F388D2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Shape 4">
            <a:extLst>
              <a:ext uri="{FF2B5EF4-FFF2-40B4-BE49-F238E27FC236}">
                <a16:creationId xmlns:a16="http://schemas.microsoft.com/office/drawing/2014/main" id="{34B87736-1626-880C-CF0F-9B7ADA328768}"/>
              </a:ext>
            </a:extLst>
          </p:cNvPr>
          <p:cNvSpPr/>
          <p:nvPr/>
        </p:nvSpPr>
        <p:spPr>
          <a:xfrm>
            <a:off x="512439"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0" name="Shape 5">
            <a:extLst>
              <a:ext uri="{FF2B5EF4-FFF2-40B4-BE49-F238E27FC236}">
                <a16:creationId xmlns:a16="http://schemas.microsoft.com/office/drawing/2014/main" id="{31D0BF9F-B050-B9FB-4873-C0F7FA6DB0CB}"/>
              </a:ext>
            </a:extLst>
          </p:cNvPr>
          <p:cNvSpPr/>
          <p:nvPr/>
        </p:nvSpPr>
        <p:spPr>
          <a:xfrm>
            <a:off x="677031" y="1815245"/>
            <a:ext cx="502920" cy="502920"/>
          </a:xfrm>
          <a:prstGeom prst="ellipse">
            <a:avLst/>
          </a:prstGeom>
          <a:solidFill>
            <a:srgbClr val="1E2761"/>
          </a:solidFill>
          <a:ln/>
        </p:spPr>
        <p:txBody>
          <a:bodyPr/>
          <a:lstStyle/>
          <a:p>
            <a:endParaRPr lang="en-IN"/>
          </a:p>
        </p:txBody>
      </p:sp>
      <p:sp>
        <p:nvSpPr>
          <p:cNvPr id="11" name="Text 6">
            <a:extLst>
              <a:ext uri="{FF2B5EF4-FFF2-40B4-BE49-F238E27FC236}">
                <a16:creationId xmlns:a16="http://schemas.microsoft.com/office/drawing/2014/main" id="{4DCC1FC8-57C5-BC1C-B671-0C2FD0909F42}"/>
              </a:ext>
            </a:extLst>
          </p:cNvPr>
          <p:cNvSpPr txBox="1"/>
          <p:nvPr/>
        </p:nvSpPr>
        <p:spPr>
          <a:xfrm>
            <a:off x="677031"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1</a:t>
            </a:r>
            <a:endParaRPr lang="en-US" sz="1870" dirty="0"/>
          </a:p>
        </p:txBody>
      </p:sp>
      <p:sp>
        <p:nvSpPr>
          <p:cNvPr id="12" name="Text 7">
            <a:extLst>
              <a:ext uri="{FF2B5EF4-FFF2-40B4-BE49-F238E27FC236}">
                <a16:creationId xmlns:a16="http://schemas.microsoft.com/office/drawing/2014/main" id="{80501D44-BC5E-6C28-5FBA-D49F5BEB1D7D}"/>
              </a:ext>
            </a:extLst>
          </p:cNvPr>
          <p:cNvSpPr txBox="1"/>
          <p:nvPr/>
        </p:nvSpPr>
        <p:spPr>
          <a:xfrm>
            <a:off x="1335399" y="1554641"/>
            <a:ext cx="4311396" cy="1024128"/>
          </a:xfrm>
          <a:prstGeom prst="rect">
            <a:avLst/>
          </a:prstGeom>
          <a:noFill/>
          <a:ln/>
        </p:spPr>
        <p:txBody>
          <a:bodyPr wrap="square" lIns="0" tIns="0" rIns="0" bIns="0" rtlCol="0" anchor="ctr"/>
          <a:lstStyle/>
          <a:p>
            <a:r>
              <a:rPr lang="en-US" sz="1500" b="1" dirty="0" err="1">
                <a:solidFill>
                  <a:srgbClr val="2A2E43"/>
                </a:solidFill>
                <a:latin typeface="Calibri" pitchFamily="34" charset="0"/>
                <a:ea typeface="Calibri" pitchFamily="34" charset="-122"/>
                <a:cs typeface="Calibri" pitchFamily="34" charset="-120"/>
              </a:rPr>
              <a:t>Whatsapp</a:t>
            </a:r>
            <a:r>
              <a:rPr lang="en-US" sz="1500" b="1" dirty="0">
                <a:solidFill>
                  <a:srgbClr val="2A2E43"/>
                </a:solidFill>
                <a:latin typeface="Calibri" pitchFamily="34" charset="0"/>
                <a:ea typeface="Calibri" pitchFamily="34" charset="-122"/>
                <a:cs typeface="Calibri" pitchFamily="34" charset="-120"/>
              </a:rPr>
              <a:t> Interface Module</a:t>
            </a:r>
            <a:endParaRPr lang="en-US" sz="1400" dirty="0"/>
          </a:p>
        </p:txBody>
      </p:sp>
      <p:sp>
        <p:nvSpPr>
          <p:cNvPr id="13" name="Shape 8">
            <a:extLst>
              <a:ext uri="{FF2B5EF4-FFF2-40B4-BE49-F238E27FC236}">
                <a16:creationId xmlns:a16="http://schemas.microsoft.com/office/drawing/2014/main" id="{E7955747-20C9-931B-36EF-D447A2552B60}"/>
              </a:ext>
            </a:extLst>
          </p:cNvPr>
          <p:cNvSpPr/>
          <p:nvPr/>
        </p:nvSpPr>
        <p:spPr>
          <a:xfrm>
            <a:off x="6149715" y="155464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4" name="Shape 9">
            <a:extLst>
              <a:ext uri="{FF2B5EF4-FFF2-40B4-BE49-F238E27FC236}">
                <a16:creationId xmlns:a16="http://schemas.microsoft.com/office/drawing/2014/main" id="{D173CDA3-2D4F-D24B-BBD3-96DC1909376F}"/>
              </a:ext>
            </a:extLst>
          </p:cNvPr>
          <p:cNvSpPr/>
          <p:nvPr/>
        </p:nvSpPr>
        <p:spPr>
          <a:xfrm>
            <a:off x="6314307" y="1815245"/>
            <a:ext cx="502920" cy="502920"/>
          </a:xfrm>
          <a:prstGeom prst="ellipse">
            <a:avLst/>
          </a:prstGeom>
          <a:solidFill>
            <a:srgbClr val="1E2761"/>
          </a:solidFill>
          <a:ln/>
        </p:spPr>
        <p:txBody>
          <a:bodyPr/>
          <a:lstStyle/>
          <a:p>
            <a:endParaRPr lang="en-IN"/>
          </a:p>
        </p:txBody>
      </p:sp>
      <p:sp>
        <p:nvSpPr>
          <p:cNvPr id="15" name="Text 10">
            <a:extLst>
              <a:ext uri="{FF2B5EF4-FFF2-40B4-BE49-F238E27FC236}">
                <a16:creationId xmlns:a16="http://schemas.microsoft.com/office/drawing/2014/main" id="{B42AF078-66EB-7639-8E20-2AF95510E490}"/>
              </a:ext>
            </a:extLst>
          </p:cNvPr>
          <p:cNvSpPr txBox="1"/>
          <p:nvPr/>
        </p:nvSpPr>
        <p:spPr>
          <a:xfrm>
            <a:off x="6314307" y="181524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2</a:t>
            </a:r>
            <a:endParaRPr lang="en-US" sz="1870" dirty="0"/>
          </a:p>
        </p:txBody>
      </p:sp>
      <p:sp>
        <p:nvSpPr>
          <p:cNvPr id="16" name="Text 11">
            <a:extLst>
              <a:ext uri="{FF2B5EF4-FFF2-40B4-BE49-F238E27FC236}">
                <a16:creationId xmlns:a16="http://schemas.microsoft.com/office/drawing/2014/main" id="{1A41036C-4A91-BD19-1668-45A3AB3DA2E7}"/>
              </a:ext>
            </a:extLst>
          </p:cNvPr>
          <p:cNvSpPr txBox="1"/>
          <p:nvPr/>
        </p:nvSpPr>
        <p:spPr>
          <a:xfrm>
            <a:off x="6972675" y="1554641"/>
            <a:ext cx="4311396" cy="1024128"/>
          </a:xfrm>
          <a:prstGeom prst="rect">
            <a:avLst/>
          </a:prstGeom>
          <a:noFill/>
          <a:ln/>
        </p:spPr>
        <p:txBody>
          <a:bodyPr wrap="square" lIns="0" tIns="0" rIns="0" bIns="0" rtlCol="0" anchor="ctr"/>
          <a:lstStyle/>
          <a:p>
            <a:r>
              <a:rPr lang="en-US" sz="1500" b="1" dirty="0">
                <a:solidFill>
                  <a:srgbClr val="2A2E43"/>
                </a:solidFill>
                <a:latin typeface="Calibri" pitchFamily="34" charset="0"/>
                <a:ea typeface="Calibri" pitchFamily="34" charset="-122"/>
                <a:cs typeface="Calibri" pitchFamily="34" charset="-120"/>
              </a:rPr>
              <a:t>User Management Module</a:t>
            </a:r>
            <a:endParaRPr lang="en-US" sz="1500" dirty="0"/>
          </a:p>
        </p:txBody>
      </p:sp>
      <p:sp>
        <p:nvSpPr>
          <p:cNvPr id="17" name="Shape 12">
            <a:extLst>
              <a:ext uri="{FF2B5EF4-FFF2-40B4-BE49-F238E27FC236}">
                <a16:creationId xmlns:a16="http://schemas.microsoft.com/office/drawing/2014/main" id="{87E8B17B-6753-0F74-6B6E-413381A9BCFE}"/>
              </a:ext>
            </a:extLst>
          </p:cNvPr>
          <p:cNvSpPr/>
          <p:nvPr/>
        </p:nvSpPr>
        <p:spPr>
          <a:xfrm>
            <a:off x="512439"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18" name="Shape 13">
            <a:extLst>
              <a:ext uri="{FF2B5EF4-FFF2-40B4-BE49-F238E27FC236}">
                <a16:creationId xmlns:a16="http://schemas.microsoft.com/office/drawing/2014/main" id="{FF11D50D-615B-C336-C804-473C30FFD872}"/>
              </a:ext>
            </a:extLst>
          </p:cNvPr>
          <p:cNvSpPr/>
          <p:nvPr/>
        </p:nvSpPr>
        <p:spPr>
          <a:xfrm>
            <a:off x="677031" y="3003965"/>
            <a:ext cx="502920" cy="502920"/>
          </a:xfrm>
          <a:prstGeom prst="ellipse">
            <a:avLst/>
          </a:prstGeom>
          <a:solidFill>
            <a:srgbClr val="1E2761"/>
          </a:solidFill>
          <a:ln/>
        </p:spPr>
        <p:txBody>
          <a:bodyPr/>
          <a:lstStyle/>
          <a:p>
            <a:endParaRPr lang="en-IN"/>
          </a:p>
        </p:txBody>
      </p:sp>
      <p:sp>
        <p:nvSpPr>
          <p:cNvPr id="19" name="Text 14">
            <a:extLst>
              <a:ext uri="{FF2B5EF4-FFF2-40B4-BE49-F238E27FC236}">
                <a16:creationId xmlns:a16="http://schemas.microsoft.com/office/drawing/2014/main" id="{FA43D674-09BF-7C8D-9B7C-335A61440D78}"/>
              </a:ext>
            </a:extLst>
          </p:cNvPr>
          <p:cNvSpPr txBox="1"/>
          <p:nvPr/>
        </p:nvSpPr>
        <p:spPr>
          <a:xfrm>
            <a:off x="677031"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3</a:t>
            </a:r>
            <a:endParaRPr lang="en-US" sz="1870" dirty="0"/>
          </a:p>
        </p:txBody>
      </p:sp>
      <p:sp>
        <p:nvSpPr>
          <p:cNvPr id="20" name="Text 15">
            <a:extLst>
              <a:ext uri="{FF2B5EF4-FFF2-40B4-BE49-F238E27FC236}">
                <a16:creationId xmlns:a16="http://schemas.microsoft.com/office/drawing/2014/main" id="{2FEB32F6-D3D5-D07F-21FB-181CBC2044B3}"/>
              </a:ext>
            </a:extLst>
          </p:cNvPr>
          <p:cNvSpPr txBox="1"/>
          <p:nvPr/>
        </p:nvSpPr>
        <p:spPr>
          <a:xfrm>
            <a:off x="1335399"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Language Understanding and Time Parsing Module</a:t>
            </a:r>
            <a:endParaRPr lang="en-US" sz="1500" dirty="0"/>
          </a:p>
        </p:txBody>
      </p:sp>
      <p:sp>
        <p:nvSpPr>
          <p:cNvPr id="21" name="Shape 16">
            <a:extLst>
              <a:ext uri="{FF2B5EF4-FFF2-40B4-BE49-F238E27FC236}">
                <a16:creationId xmlns:a16="http://schemas.microsoft.com/office/drawing/2014/main" id="{8DFB6F15-03F9-3415-85CA-CA3CCFD0A2AA}"/>
              </a:ext>
            </a:extLst>
          </p:cNvPr>
          <p:cNvSpPr/>
          <p:nvPr/>
        </p:nvSpPr>
        <p:spPr>
          <a:xfrm>
            <a:off x="6149715" y="274336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2" name="Shape 17">
            <a:extLst>
              <a:ext uri="{FF2B5EF4-FFF2-40B4-BE49-F238E27FC236}">
                <a16:creationId xmlns:a16="http://schemas.microsoft.com/office/drawing/2014/main" id="{685A1313-06C0-8C51-438E-B8934468FC24}"/>
              </a:ext>
            </a:extLst>
          </p:cNvPr>
          <p:cNvSpPr/>
          <p:nvPr/>
        </p:nvSpPr>
        <p:spPr>
          <a:xfrm>
            <a:off x="6314307" y="3003965"/>
            <a:ext cx="502920" cy="502920"/>
          </a:xfrm>
          <a:prstGeom prst="ellipse">
            <a:avLst/>
          </a:prstGeom>
          <a:solidFill>
            <a:srgbClr val="1E2761"/>
          </a:solidFill>
          <a:ln/>
        </p:spPr>
        <p:txBody>
          <a:bodyPr/>
          <a:lstStyle/>
          <a:p>
            <a:endParaRPr lang="en-IN"/>
          </a:p>
        </p:txBody>
      </p:sp>
      <p:sp>
        <p:nvSpPr>
          <p:cNvPr id="23" name="Text 18">
            <a:extLst>
              <a:ext uri="{FF2B5EF4-FFF2-40B4-BE49-F238E27FC236}">
                <a16:creationId xmlns:a16="http://schemas.microsoft.com/office/drawing/2014/main" id="{6C5CB701-254C-F42D-3F70-26D60A53684D}"/>
              </a:ext>
            </a:extLst>
          </p:cNvPr>
          <p:cNvSpPr txBox="1"/>
          <p:nvPr/>
        </p:nvSpPr>
        <p:spPr>
          <a:xfrm>
            <a:off x="6314307" y="300396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4</a:t>
            </a:r>
            <a:endParaRPr lang="en-US" sz="1870" dirty="0"/>
          </a:p>
        </p:txBody>
      </p:sp>
      <p:sp>
        <p:nvSpPr>
          <p:cNvPr id="24" name="Text 19">
            <a:extLst>
              <a:ext uri="{FF2B5EF4-FFF2-40B4-BE49-F238E27FC236}">
                <a16:creationId xmlns:a16="http://schemas.microsoft.com/office/drawing/2014/main" id="{4E50B0E3-9615-DB31-8B06-C775722C8B6F}"/>
              </a:ext>
            </a:extLst>
          </p:cNvPr>
          <p:cNvSpPr txBox="1"/>
          <p:nvPr/>
        </p:nvSpPr>
        <p:spPr>
          <a:xfrm>
            <a:off x="6972675" y="274336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Agent/ Planning Module</a:t>
            </a:r>
            <a:endParaRPr lang="en-US" sz="1500" dirty="0"/>
          </a:p>
        </p:txBody>
      </p:sp>
      <p:sp>
        <p:nvSpPr>
          <p:cNvPr id="25" name="Shape 20">
            <a:extLst>
              <a:ext uri="{FF2B5EF4-FFF2-40B4-BE49-F238E27FC236}">
                <a16:creationId xmlns:a16="http://schemas.microsoft.com/office/drawing/2014/main" id="{9FF7EEBC-0326-44F8-C427-3B2703C2EA6C}"/>
              </a:ext>
            </a:extLst>
          </p:cNvPr>
          <p:cNvSpPr/>
          <p:nvPr/>
        </p:nvSpPr>
        <p:spPr>
          <a:xfrm>
            <a:off x="512439"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26" name="Shape 21">
            <a:extLst>
              <a:ext uri="{FF2B5EF4-FFF2-40B4-BE49-F238E27FC236}">
                <a16:creationId xmlns:a16="http://schemas.microsoft.com/office/drawing/2014/main" id="{9F1BBE7A-A348-D312-2ACE-4988BB25BA66}"/>
              </a:ext>
            </a:extLst>
          </p:cNvPr>
          <p:cNvSpPr/>
          <p:nvPr/>
        </p:nvSpPr>
        <p:spPr>
          <a:xfrm>
            <a:off x="677031" y="4192685"/>
            <a:ext cx="502920" cy="502920"/>
          </a:xfrm>
          <a:prstGeom prst="ellipse">
            <a:avLst/>
          </a:prstGeom>
          <a:solidFill>
            <a:srgbClr val="1E2761"/>
          </a:solidFill>
          <a:ln/>
        </p:spPr>
        <p:txBody>
          <a:bodyPr/>
          <a:lstStyle/>
          <a:p>
            <a:endParaRPr lang="en-IN"/>
          </a:p>
        </p:txBody>
      </p:sp>
      <p:sp>
        <p:nvSpPr>
          <p:cNvPr id="27" name="Text 22">
            <a:extLst>
              <a:ext uri="{FF2B5EF4-FFF2-40B4-BE49-F238E27FC236}">
                <a16:creationId xmlns:a16="http://schemas.microsoft.com/office/drawing/2014/main" id="{8393EA8D-1C40-AFDF-8573-1AD6C1E4FFF6}"/>
              </a:ext>
            </a:extLst>
          </p:cNvPr>
          <p:cNvSpPr txBox="1"/>
          <p:nvPr/>
        </p:nvSpPr>
        <p:spPr>
          <a:xfrm>
            <a:off x="677031"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5</a:t>
            </a:r>
            <a:endParaRPr lang="en-US" sz="1870" dirty="0"/>
          </a:p>
        </p:txBody>
      </p:sp>
      <p:sp>
        <p:nvSpPr>
          <p:cNvPr id="28" name="Text 23">
            <a:extLst>
              <a:ext uri="{FF2B5EF4-FFF2-40B4-BE49-F238E27FC236}">
                <a16:creationId xmlns:a16="http://schemas.microsoft.com/office/drawing/2014/main" id="{3E88039D-4BFC-B9AC-A149-2ACF6DBD383F}"/>
              </a:ext>
            </a:extLst>
          </p:cNvPr>
          <p:cNvSpPr txBox="1"/>
          <p:nvPr/>
        </p:nvSpPr>
        <p:spPr>
          <a:xfrm>
            <a:off x="1335399"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Tool/Action Module</a:t>
            </a:r>
            <a:endParaRPr lang="en-US" sz="1500" dirty="0"/>
          </a:p>
        </p:txBody>
      </p:sp>
      <p:sp>
        <p:nvSpPr>
          <p:cNvPr id="29" name="Shape 24">
            <a:extLst>
              <a:ext uri="{FF2B5EF4-FFF2-40B4-BE49-F238E27FC236}">
                <a16:creationId xmlns:a16="http://schemas.microsoft.com/office/drawing/2014/main" id="{811AEA8E-64BB-996E-95F0-CA8F2DAE6C23}"/>
              </a:ext>
            </a:extLst>
          </p:cNvPr>
          <p:cNvSpPr/>
          <p:nvPr/>
        </p:nvSpPr>
        <p:spPr>
          <a:xfrm>
            <a:off x="6149715" y="393208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0" name="Shape 25">
            <a:extLst>
              <a:ext uri="{FF2B5EF4-FFF2-40B4-BE49-F238E27FC236}">
                <a16:creationId xmlns:a16="http://schemas.microsoft.com/office/drawing/2014/main" id="{4D63F593-2AC0-E019-C7E6-7AE4945BD637}"/>
              </a:ext>
            </a:extLst>
          </p:cNvPr>
          <p:cNvSpPr/>
          <p:nvPr/>
        </p:nvSpPr>
        <p:spPr>
          <a:xfrm>
            <a:off x="6314307" y="4192685"/>
            <a:ext cx="502920" cy="502920"/>
          </a:xfrm>
          <a:prstGeom prst="ellipse">
            <a:avLst/>
          </a:prstGeom>
          <a:solidFill>
            <a:srgbClr val="1E2761"/>
          </a:solidFill>
          <a:ln/>
        </p:spPr>
        <p:txBody>
          <a:bodyPr/>
          <a:lstStyle/>
          <a:p>
            <a:endParaRPr lang="en-IN"/>
          </a:p>
        </p:txBody>
      </p:sp>
      <p:sp>
        <p:nvSpPr>
          <p:cNvPr id="31" name="Text 26">
            <a:extLst>
              <a:ext uri="{FF2B5EF4-FFF2-40B4-BE49-F238E27FC236}">
                <a16:creationId xmlns:a16="http://schemas.microsoft.com/office/drawing/2014/main" id="{FBA0E269-79F2-BEA1-55C3-B39381CC5D06}"/>
              </a:ext>
            </a:extLst>
          </p:cNvPr>
          <p:cNvSpPr txBox="1"/>
          <p:nvPr/>
        </p:nvSpPr>
        <p:spPr>
          <a:xfrm>
            <a:off x="6314307" y="419268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6</a:t>
            </a:r>
            <a:endParaRPr lang="en-US" sz="1870" dirty="0"/>
          </a:p>
        </p:txBody>
      </p:sp>
      <p:sp>
        <p:nvSpPr>
          <p:cNvPr id="32" name="Text 27">
            <a:extLst>
              <a:ext uri="{FF2B5EF4-FFF2-40B4-BE49-F238E27FC236}">
                <a16:creationId xmlns:a16="http://schemas.microsoft.com/office/drawing/2014/main" id="{3969CFFE-965E-2926-7A0F-680CA9F677CC}"/>
              </a:ext>
            </a:extLst>
          </p:cNvPr>
          <p:cNvSpPr txBox="1"/>
          <p:nvPr/>
        </p:nvSpPr>
        <p:spPr>
          <a:xfrm>
            <a:off x="6972675" y="393208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Memory/ Database Module</a:t>
            </a:r>
            <a:endParaRPr lang="en-US" sz="1500" dirty="0"/>
          </a:p>
        </p:txBody>
      </p:sp>
      <p:sp>
        <p:nvSpPr>
          <p:cNvPr id="33" name="Shape 28">
            <a:extLst>
              <a:ext uri="{FF2B5EF4-FFF2-40B4-BE49-F238E27FC236}">
                <a16:creationId xmlns:a16="http://schemas.microsoft.com/office/drawing/2014/main" id="{00236CB4-7999-4618-8112-7D89EF85DB94}"/>
              </a:ext>
            </a:extLst>
          </p:cNvPr>
          <p:cNvSpPr/>
          <p:nvPr/>
        </p:nvSpPr>
        <p:spPr>
          <a:xfrm>
            <a:off x="512439"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4" name="Shape 29">
            <a:extLst>
              <a:ext uri="{FF2B5EF4-FFF2-40B4-BE49-F238E27FC236}">
                <a16:creationId xmlns:a16="http://schemas.microsoft.com/office/drawing/2014/main" id="{770651B0-0AD2-FD65-B898-031FD528BF61}"/>
              </a:ext>
            </a:extLst>
          </p:cNvPr>
          <p:cNvSpPr/>
          <p:nvPr/>
        </p:nvSpPr>
        <p:spPr>
          <a:xfrm>
            <a:off x="677031" y="5381405"/>
            <a:ext cx="502920" cy="502920"/>
          </a:xfrm>
          <a:prstGeom prst="ellipse">
            <a:avLst/>
          </a:prstGeom>
          <a:solidFill>
            <a:srgbClr val="1E2761"/>
          </a:solidFill>
          <a:ln/>
        </p:spPr>
        <p:txBody>
          <a:bodyPr/>
          <a:lstStyle/>
          <a:p>
            <a:endParaRPr lang="en-IN"/>
          </a:p>
        </p:txBody>
      </p:sp>
      <p:sp>
        <p:nvSpPr>
          <p:cNvPr id="35" name="Text 30">
            <a:extLst>
              <a:ext uri="{FF2B5EF4-FFF2-40B4-BE49-F238E27FC236}">
                <a16:creationId xmlns:a16="http://schemas.microsoft.com/office/drawing/2014/main" id="{1572F7EE-8DDA-FD74-033D-9B3925938B7A}"/>
              </a:ext>
            </a:extLst>
          </p:cNvPr>
          <p:cNvSpPr txBox="1"/>
          <p:nvPr/>
        </p:nvSpPr>
        <p:spPr>
          <a:xfrm>
            <a:off x="677031"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7</a:t>
            </a:r>
            <a:endParaRPr lang="en-US" sz="1870" dirty="0"/>
          </a:p>
        </p:txBody>
      </p:sp>
      <p:sp>
        <p:nvSpPr>
          <p:cNvPr id="36" name="Text 31">
            <a:extLst>
              <a:ext uri="{FF2B5EF4-FFF2-40B4-BE49-F238E27FC236}">
                <a16:creationId xmlns:a16="http://schemas.microsoft.com/office/drawing/2014/main" id="{6F700908-8AC7-E950-7D85-5054F1A97BC2}"/>
              </a:ext>
            </a:extLst>
          </p:cNvPr>
          <p:cNvSpPr txBox="1"/>
          <p:nvPr/>
        </p:nvSpPr>
        <p:spPr>
          <a:xfrm>
            <a:off x="1335399"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Scheduler Module</a:t>
            </a:r>
            <a:endParaRPr lang="en-US" sz="1500" dirty="0"/>
          </a:p>
        </p:txBody>
      </p:sp>
      <p:sp>
        <p:nvSpPr>
          <p:cNvPr id="37" name="Shape 32">
            <a:extLst>
              <a:ext uri="{FF2B5EF4-FFF2-40B4-BE49-F238E27FC236}">
                <a16:creationId xmlns:a16="http://schemas.microsoft.com/office/drawing/2014/main" id="{EEA75A72-E244-FE8B-5BCC-3BF50F5A7E70}"/>
              </a:ext>
            </a:extLst>
          </p:cNvPr>
          <p:cNvSpPr/>
          <p:nvPr/>
        </p:nvSpPr>
        <p:spPr>
          <a:xfrm>
            <a:off x="6149715" y="5120801"/>
            <a:ext cx="5271516" cy="1024128"/>
          </a:xfrm>
          <a:prstGeom prst="roundRect">
            <a:avLst>
              <a:gd name="adj" fmla="val 7143"/>
            </a:avLst>
          </a:prstGeom>
          <a:solidFill>
            <a:srgbClr val="F5F7FC"/>
          </a:solidFill>
          <a:ln w="12700">
            <a:solidFill>
              <a:srgbClr val="CADCFC"/>
            </a:solidFill>
            <a:prstDash val="solid"/>
          </a:ln>
        </p:spPr>
        <p:txBody>
          <a:bodyPr/>
          <a:lstStyle/>
          <a:p>
            <a:endParaRPr lang="en-IN"/>
          </a:p>
        </p:txBody>
      </p:sp>
      <p:sp>
        <p:nvSpPr>
          <p:cNvPr id="38" name="Shape 33">
            <a:extLst>
              <a:ext uri="{FF2B5EF4-FFF2-40B4-BE49-F238E27FC236}">
                <a16:creationId xmlns:a16="http://schemas.microsoft.com/office/drawing/2014/main" id="{A62F5776-9ABA-7FA3-8122-BA2F6D81DA91}"/>
              </a:ext>
            </a:extLst>
          </p:cNvPr>
          <p:cNvSpPr/>
          <p:nvPr/>
        </p:nvSpPr>
        <p:spPr>
          <a:xfrm>
            <a:off x="6314307" y="5381405"/>
            <a:ext cx="502920" cy="502920"/>
          </a:xfrm>
          <a:prstGeom prst="ellipse">
            <a:avLst/>
          </a:prstGeom>
          <a:solidFill>
            <a:srgbClr val="1E2761"/>
          </a:solidFill>
          <a:ln/>
        </p:spPr>
        <p:txBody>
          <a:bodyPr/>
          <a:lstStyle/>
          <a:p>
            <a:endParaRPr lang="en-IN"/>
          </a:p>
        </p:txBody>
      </p:sp>
      <p:sp>
        <p:nvSpPr>
          <p:cNvPr id="39" name="Text 34">
            <a:extLst>
              <a:ext uri="{FF2B5EF4-FFF2-40B4-BE49-F238E27FC236}">
                <a16:creationId xmlns:a16="http://schemas.microsoft.com/office/drawing/2014/main" id="{474624DF-2E8F-9A97-FA4E-FF1184566DA0}"/>
              </a:ext>
            </a:extLst>
          </p:cNvPr>
          <p:cNvSpPr txBox="1"/>
          <p:nvPr/>
        </p:nvSpPr>
        <p:spPr>
          <a:xfrm>
            <a:off x="6314307" y="5381405"/>
            <a:ext cx="502920" cy="502920"/>
          </a:xfrm>
          <a:prstGeom prst="rect">
            <a:avLst/>
          </a:prstGeom>
          <a:noFill/>
          <a:ln/>
        </p:spPr>
        <p:txBody>
          <a:bodyPr wrap="square" lIns="0" tIns="0" rIns="0" bIns="0" rtlCol="0" anchor="ctr"/>
          <a:lstStyle/>
          <a:p>
            <a:pPr marL="0" indent="0" algn="ctr">
              <a:buNone/>
            </a:pPr>
            <a:r>
              <a:rPr lang="en-US" sz="1870" b="1" dirty="0">
                <a:solidFill>
                  <a:srgbClr val="FFFFFF"/>
                </a:solidFill>
                <a:latin typeface="Calibri" pitchFamily="34" charset="0"/>
                <a:ea typeface="Calibri" pitchFamily="34" charset="-122"/>
                <a:cs typeface="Calibri" pitchFamily="34" charset="-120"/>
              </a:rPr>
              <a:t>8</a:t>
            </a:r>
            <a:endParaRPr lang="en-US" sz="1870" dirty="0"/>
          </a:p>
        </p:txBody>
      </p:sp>
      <p:sp>
        <p:nvSpPr>
          <p:cNvPr id="40" name="Text 35">
            <a:extLst>
              <a:ext uri="{FF2B5EF4-FFF2-40B4-BE49-F238E27FC236}">
                <a16:creationId xmlns:a16="http://schemas.microsoft.com/office/drawing/2014/main" id="{10107822-9BF9-04C7-676E-E67B501AC19D}"/>
              </a:ext>
            </a:extLst>
          </p:cNvPr>
          <p:cNvSpPr txBox="1"/>
          <p:nvPr/>
        </p:nvSpPr>
        <p:spPr>
          <a:xfrm>
            <a:off x="6972675" y="5120801"/>
            <a:ext cx="4311396" cy="1024128"/>
          </a:xfrm>
          <a:prstGeom prst="rect">
            <a:avLst/>
          </a:prstGeom>
          <a:noFill/>
          <a:ln/>
        </p:spPr>
        <p:txBody>
          <a:bodyPr wrap="square" lIns="0" tIns="0" rIns="0" bIns="0" rtlCol="0" anchor="ctr"/>
          <a:lstStyle/>
          <a:p>
            <a:pPr marL="0" indent="0">
              <a:buNone/>
            </a:pPr>
            <a:r>
              <a:rPr lang="en-US" sz="1500" b="1" dirty="0">
                <a:solidFill>
                  <a:srgbClr val="2A2E43"/>
                </a:solidFill>
                <a:latin typeface="Calibri" pitchFamily="34" charset="0"/>
                <a:ea typeface="Calibri" pitchFamily="34" charset="-122"/>
                <a:cs typeface="Calibri" pitchFamily="34" charset="-120"/>
              </a:rPr>
              <a:t>Error Handling and Testing Module</a:t>
            </a:r>
            <a:endParaRPr lang="en-US" sz="1500" dirty="0"/>
          </a:p>
        </p:txBody>
      </p:sp>
      <p:sp>
        <p:nvSpPr>
          <p:cNvPr id="4" name="TextBox 3">
            <a:extLst>
              <a:ext uri="{FF2B5EF4-FFF2-40B4-BE49-F238E27FC236}">
                <a16:creationId xmlns:a16="http://schemas.microsoft.com/office/drawing/2014/main" id="{D72B1F10-FFF6-075D-6512-AD6CE20184DD}"/>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8770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8B3E-8256-F03D-40D5-83914F5A844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8CFA08-6203-E145-8B33-EA21DC666BA9}"/>
              </a:ext>
            </a:extLst>
          </p:cNvPr>
          <p:cNvSpPr>
            <a:spLocks noGrp="1"/>
          </p:cNvSpPr>
          <p:nvPr>
            <p:ph type="body" sz="quarter" idx="13"/>
          </p:nvPr>
        </p:nvSpPr>
        <p:spPr>
          <a:xfrm>
            <a:off x="372140" y="1429138"/>
            <a:ext cx="10508194" cy="444565"/>
          </a:xfrm>
        </p:spPr>
        <p:txBody>
          <a:bodyPr/>
          <a:lstStyle/>
          <a:p>
            <a:pPr marL="0" indent="0" algn="just">
              <a:buNone/>
            </a:pPr>
            <a:endParaRPr lang="en-US" dirty="0">
              <a:solidFill>
                <a:schemeClr val="tx1"/>
              </a:solidFill>
              <a:latin typeface="+mn-lt"/>
            </a:endParaRPr>
          </a:p>
          <a:p>
            <a:pPr lvl="1" algn="just"/>
            <a:r>
              <a:rPr lang="en-IN" dirty="0"/>
              <a:t>This module is the entry and exit point of Aria. A webhook receives every incoming WhatsApp message and passes it on to the rest of the system. It also checks that each request is valid before processing it. After the agent decides what to say, this module sends the reply back through the WhatsApp API. It delivers reminder notifications at the scheduled time as well. Because all messaging lives here, the other modules never deal with WhatsApp directly, which keeps the design clean and easy to change later.</a:t>
            </a:r>
            <a:endParaRPr lang="en-US" dirty="0"/>
          </a:p>
        </p:txBody>
      </p:sp>
      <p:sp>
        <p:nvSpPr>
          <p:cNvPr id="3" name="TextBox 2">
            <a:extLst>
              <a:ext uri="{FF2B5EF4-FFF2-40B4-BE49-F238E27FC236}">
                <a16:creationId xmlns:a16="http://schemas.microsoft.com/office/drawing/2014/main" id="{60CBA6FD-36E4-9579-6FC5-FD0C96744B04}"/>
              </a:ext>
            </a:extLst>
          </p:cNvPr>
          <p:cNvSpPr txBox="1"/>
          <p:nvPr/>
        </p:nvSpPr>
        <p:spPr>
          <a:xfrm>
            <a:off x="255996" y="502545"/>
            <a:ext cx="10624338" cy="646331"/>
          </a:xfrm>
          <a:prstGeom prst="rect">
            <a:avLst/>
          </a:prstGeom>
          <a:noFill/>
        </p:spPr>
        <p:txBody>
          <a:bodyPr wrap="square" rtlCol="0">
            <a:spAutoFit/>
          </a:bodyPr>
          <a:lstStyle/>
          <a:p>
            <a:pPr lvl="0">
              <a:defRPr/>
            </a:pPr>
            <a:r>
              <a:rPr lang="en-IN" sz="3600"/>
              <a:t>1</a:t>
            </a:r>
            <a:r>
              <a:rPr lang="en-IN" sz="3600" dirty="0"/>
              <a:t>. WhatsApp Interface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50C37F10-C251-900A-D4C0-07B3C3E24A3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44684D4-12A3-CDAA-1B5F-D0B4E82940DC}"/>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2903DEE5-2EBB-E3E9-0B02-F709432405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7625BB51-69A3-A092-7B8F-AB76B8611499}"/>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997866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8D452-D279-F2F4-F2B6-327829A66C8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E80F8D0-9927-0952-8E81-40BF518E4811}"/>
              </a:ext>
            </a:extLst>
          </p:cNvPr>
          <p:cNvSpPr>
            <a:spLocks noGrp="1"/>
          </p:cNvSpPr>
          <p:nvPr>
            <p:ph type="body" sz="quarter" idx="13"/>
          </p:nvPr>
        </p:nvSpPr>
        <p:spPr>
          <a:xfrm>
            <a:off x="372140" y="1429138"/>
            <a:ext cx="10508194" cy="444565"/>
          </a:xfrm>
        </p:spPr>
        <p:txBody>
          <a:bodyPr/>
          <a:lstStyle/>
          <a:p>
            <a:pPr lvl="1"/>
            <a:r>
              <a:rPr lang="en-IN" dirty="0"/>
              <a:t>This module identifies every user by their WhatsApp number, so no separate sign-up or login is needed. On first contact, it creates a profile automatically and asks for details such as time zone if they are missing. The time zone matters because "remind me at 9 AM" must fire at 9 AM local time for that user. It keeps each user's reminders and conversation data separate from everyone else's. Other modules rely on it to know who is talking and what their settings are. It also provides a place to store preferences, such as language, later on..</a:t>
            </a:r>
            <a:endParaRPr lang="en-US" dirty="0">
              <a:solidFill>
                <a:srgbClr val="1C3898"/>
              </a:solidFill>
            </a:endParaRPr>
          </a:p>
        </p:txBody>
      </p:sp>
      <p:sp>
        <p:nvSpPr>
          <p:cNvPr id="3" name="TextBox 2">
            <a:extLst>
              <a:ext uri="{FF2B5EF4-FFF2-40B4-BE49-F238E27FC236}">
                <a16:creationId xmlns:a16="http://schemas.microsoft.com/office/drawing/2014/main" id="{DDDA9BDB-868C-CB9F-3C6D-FB3EB1873C18}"/>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2. User Management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841B48D-FD52-804C-4D5D-8D023CD1B50B}"/>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0C3325A-C11B-48F3-B32D-30811724FF03}"/>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68545025-AB34-A66F-FE1C-DB270C36DD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65505E0-4F91-3BDC-1984-FF834E3F7540}"/>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082665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D9C6-9596-D437-67D0-F4D28B1B11A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B49C74F-31D8-BE96-1C0D-F0E1F57869CD}"/>
              </a:ext>
            </a:extLst>
          </p:cNvPr>
          <p:cNvSpPr>
            <a:spLocks noGrp="1"/>
          </p:cNvSpPr>
          <p:nvPr>
            <p:ph type="body" sz="quarter" idx="13"/>
          </p:nvPr>
        </p:nvSpPr>
        <p:spPr>
          <a:xfrm>
            <a:off x="372140" y="1429138"/>
            <a:ext cx="10508194" cy="444565"/>
          </a:xfrm>
        </p:spPr>
        <p:txBody>
          <a:bodyPr/>
          <a:lstStyle/>
          <a:p>
            <a:pPr lvl="1"/>
            <a:r>
              <a:rPr lang="en-IN" dirty="0"/>
              <a:t>This module uses the LLM to read the user's free-form message and work out what they want. It identifies the intent: create, view, edit, or delete a reminder. It pulls out the task itself, such as "call the bank," along with any recurrence like daily or weekly. It also converts phrases such as "tomorrow evening" or "next Friday" into exact timestamps. To do this correctly, it is given the user's current date and time zone, since relative dates go wrong without them. When the message is unclear, it flags what is missing so the agent can ask about it.</a:t>
            </a:r>
            <a:endParaRPr lang="en-US" dirty="0">
              <a:solidFill>
                <a:srgbClr val="1C3898"/>
              </a:solidFill>
            </a:endParaRPr>
          </a:p>
        </p:txBody>
      </p:sp>
      <p:sp>
        <p:nvSpPr>
          <p:cNvPr id="3" name="TextBox 2">
            <a:extLst>
              <a:ext uri="{FF2B5EF4-FFF2-40B4-BE49-F238E27FC236}">
                <a16:creationId xmlns:a16="http://schemas.microsoft.com/office/drawing/2014/main" id="{12B6BB36-AE93-2930-22FD-AD3520979511}"/>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3. Language Understanding and Time Parsing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F95A81CD-70E8-96AD-FFA7-4881C414C15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532BF60-8915-8639-3A06-2CEE8BEEA9DA}"/>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2D268B23-ED77-B4D7-73E0-278758F08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71290B-BDF6-B76B-2F67-F1AE211B7EFC}"/>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834396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9F25A-8615-ED64-67B0-4C270B698F7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BB71E2F-1100-3A94-FC1D-FA13BDF5D325}"/>
              </a:ext>
            </a:extLst>
          </p:cNvPr>
          <p:cNvSpPr>
            <a:spLocks noGrp="1"/>
          </p:cNvSpPr>
          <p:nvPr>
            <p:ph type="body" sz="quarter" idx="13"/>
          </p:nvPr>
        </p:nvSpPr>
        <p:spPr>
          <a:xfrm>
            <a:off x="372140" y="1429138"/>
            <a:ext cx="10508194" cy="444565"/>
          </a:xfrm>
        </p:spPr>
        <p:txBody>
          <a:bodyPr/>
          <a:lstStyle/>
          <a:p>
            <a:pPr lvl="1"/>
            <a:endParaRPr lang="en-IN" dirty="0"/>
          </a:p>
          <a:p>
            <a:pPr lvl="1"/>
            <a:r>
              <a:rPr lang="en-IN" dirty="0"/>
              <a:t>This is the decision-making core and what makes Aria agentic rather than a simple chatbot. It takes the structured output from the language module and decides which action to perform. If a detail is missing, it asks a follow-up question, such as "What time should I remind you?" It may need several steps for one request, for example listing reminders before deleting one. After acting, it checks the tool result and confirms the outcome to the user in plain language. This follows the reason-then-act loop described in </a:t>
            </a:r>
            <a:r>
              <a:rPr lang="en-IN" dirty="0" err="1"/>
              <a:t>ReAct</a:t>
            </a:r>
            <a:r>
              <a:rPr lang="en-IN" dirty="0"/>
              <a:t>.</a:t>
            </a:r>
            <a:endParaRPr lang="en-US" dirty="0">
              <a:solidFill>
                <a:srgbClr val="1C3898"/>
              </a:solidFill>
            </a:endParaRPr>
          </a:p>
        </p:txBody>
      </p:sp>
      <p:sp>
        <p:nvSpPr>
          <p:cNvPr id="3" name="TextBox 2">
            <a:extLst>
              <a:ext uri="{FF2B5EF4-FFF2-40B4-BE49-F238E27FC236}">
                <a16:creationId xmlns:a16="http://schemas.microsoft.com/office/drawing/2014/main" id="{6481E6DC-9CEA-0CDD-B219-E1B3847566F3}"/>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4. Agent / Planning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F4C6A056-09E0-8328-3AE6-A1312821CF4D}"/>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9608B8A-4283-5EA0-99CA-4956C3376A7F}"/>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7D341511-D07A-1BAD-9A34-00C7E3F5D7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997E3A8-88E7-B21F-E16D-8DF11C705DE8}"/>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760321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B630-5425-557B-EDDD-484B08B4BB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6D042F8-AB90-4D23-80AB-0A1417B5660C}"/>
              </a:ext>
            </a:extLst>
          </p:cNvPr>
          <p:cNvSpPr>
            <a:spLocks noGrp="1"/>
          </p:cNvSpPr>
          <p:nvPr>
            <p:ph type="body" sz="quarter" idx="13"/>
          </p:nvPr>
        </p:nvSpPr>
        <p:spPr>
          <a:xfrm>
            <a:off x="372140" y="1429138"/>
            <a:ext cx="10508194" cy="444565"/>
          </a:xfrm>
        </p:spPr>
        <p:txBody>
          <a:bodyPr/>
          <a:lstStyle/>
          <a:p>
            <a:pPr lvl="1"/>
            <a:endParaRPr lang="en-IN" dirty="0"/>
          </a:p>
          <a:p>
            <a:pPr lvl="1"/>
            <a:r>
              <a:rPr lang="en-IN" dirty="0"/>
              <a:t>This module holds the concrete functions the agent can call: create, list, update, and delete reminder. Each tool has a clear name, defined inputs, and a predictable output, so the agent can use it reliably. The agent decides when to call a tool and with what arguments, in the spirit of </a:t>
            </a:r>
            <a:r>
              <a:rPr lang="en-IN" dirty="0" err="1"/>
              <a:t>Toolformer's</a:t>
            </a:r>
            <a:r>
              <a:rPr lang="en-IN" dirty="0"/>
              <a:t> approach to tool use. Tools are the part that changes the real state of the system, by writing to the database or adjusting the scheduler. This lets Aria take real actions instead of only generating text. New abilities can be added later by writing a new tool.</a:t>
            </a:r>
            <a:endParaRPr lang="en-US" dirty="0">
              <a:solidFill>
                <a:srgbClr val="1C3898"/>
              </a:solidFill>
            </a:endParaRPr>
          </a:p>
        </p:txBody>
      </p:sp>
      <p:sp>
        <p:nvSpPr>
          <p:cNvPr id="3" name="TextBox 2">
            <a:extLst>
              <a:ext uri="{FF2B5EF4-FFF2-40B4-BE49-F238E27FC236}">
                <a16:creationId xmlns:a16="http://schemas.microsoft.com/office/drawing/2014/main" id="{A61F54C7-07D5-FD7C-9755-C3EADB0115DA}"/>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5. Tool / Action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3B7693D0-C151-E3CC-7FBD-9A746F3F7EC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182C8C8-F24D-9650-9A6F-51B2E1260E52}"/>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D4D2DCCC-8EE4-2327-1DA8-1009F6D5B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41849D7-34D3-6435-8241-0A2CC6045173}"/>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2622113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969B1-82F5-A2E3-89F0-D14C8ED908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CB74D06-282E-0172-47D6-2327C58D7D46}"/>
              </a:ext>
            </a:extLst>
          </p:cNvPr>
          <p:cNvSpPr>
            <a:spLocks noGrp="1"/>
          </p:cNvSpPr>
          <p:nvPr>
            <p:ph type="body" sz="quarter" idx="13"/>
          </p:nvPr>
        </p:nvSpPr>
        <p:spPr>
          <a:xfrm>
            <a:off x="372140" y="1429138"/>
            <a:ext cx="10508194" cy="444565"/>
          </a:xfrm>
        </p:spPr>
        <p:txBody>
          <a:bodyPr/>
          <a:lstStyle/>
          <a:p>
            <a:pPr lvl="1"/>
            <a:r>
              <a:rPr lang="en-IN" dirty="0"/>
              <a:t>This module stores all reminders along with their task, time, status, and recurrence rule. It also keeps recent conversation context, so a follow-up like "change it to 6 PM" can be tied to the right reminder. Without this short-term memory, the agent would treat every message as brand new. The tools write to it, and the scheduler reads from it to know what is due. Data is stored per user, which supports the separation set up by the user module. Keeping everything here also makes it easy to inspect or back up the system's state.</a:t>
            </a:r>
            <a:endParaRPr lang="en-US" dirty="0">
              <a:solidFill>
                <a:srgbClr val="1C3898"/>
              </a:solidFill>
            </a:endParaRPr>
          </a:p>
        </p:txBody>
      </p:sp>
      <p:sp>
        <p:nvSpPr>
          <p:cNvPr id="3" name="TextBox 2">
            <a:extLst>
              <a:ext uri="{FF2B5EF4-FFF2-40B4-BE49-F238E27FC236}">
                <a16:creationId xmlns:a16="http://schemas.microsoft.com/office/drawing/2014/main" id="{DAD1CF69-CE29-7C53-BD44-E52A032341DD}"/>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6. Memory / Database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D5960CF7-66D0-CEF1-6ADF-FABF5FC592F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43CC9D0-EA95-C9B5-97E7-E478029FE666}"/>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32700F0E-3281-4319-E173-C9DF1A640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511991E-29B6-7388-D4D0-E84DB712615D}"/>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957355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A066B-7BBF-56EA-949E-979173F9F26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85C3E82-8050-7CF7-78B0-C6649A1A9573}"/>
              </a:ext>
            </a:extLst>
          </p:cNvPr>
          <p:cNvSpPr>
            <a:spLocks noGrp="1"/>
          </p:cNvSpPr>
          <p:nvPr>
            <p:ph type="body" sz="quarter" idx="13"/>
          </p:nvPr>
        </p:nvSpPr>
        <p:spPr>
          <a:xfrm>
            <a:off x="372140" y="1429138"/>
            <a:ext cx="10508194" cy="444565"/>
          </a:xfrm>
        </p:spPr>
        <p:txBody>
          <a:bodyPr/>
          <a:lstStyle/>
          <a:p>
            <a:pPr lvl="1"/>
            <a:endParaRPr lang="en-IN" dirty="0"/>
          </a:p>
          <a:p>
            <a:pPr lvl="1"/>
            <a:r>
              <a:rPr lang="en-IN" dirty="0"/>
              <a:t>This module is responsible for making sure reminders fire at the right moment. It continuously checks the stored reminders and picks out the ones that are due. When a reminder is due, it hands the message to the WhatsApp interface for delivery. For recurring reminders, it works out the next occurrence after each send and queues it automatically. It also handles reminders that were created or changed after it started, so updates take effect. Reliability is the main goal, since a late or missed reminder defeats the purpose of the assistant.</a:t>
            </a:r>
            <a:endParaRPr lang="en-US" dirty="0">
              <a:solidFill>
                <a:srgbClr val="1C3898"/>
              </a:solidFill>
            </a:endParaRPr>
          </a:p>
        </p:txBody>
      </p:sp>
      <p:sp>
        <p:nvSpPr>
          <p:cNvPr id="3" name="TextBox 2">
            <a:extLst>
              <a:ext uri="{FF2B5EF4-FFF2-40B4-BE49-F238E27FC236}">
                <a16:creationId xmlns:a16="http://schemas.microsoft.com/office/drawing/2014/main" id="{82CFC1B9-AB28-02DB-FBE1-DD9801B302F1}"/>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7. Scheduler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F247202E-C05A-AA2A-7888-52E2E927CEA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B259B74-832E-740A-CDF1-43B6EDA09CBD}"/>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FCD1CB71-7988-9C5E-1530-FEFB7327EF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EDD59A3-D053-7A56-7546-DBBE164E28D1}"/>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3186295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14657-FA6B-14C3-5508-4049C1E2AC5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8E6921C-BDA4-12B4-774E-B357F935F876}"/>
              </a:ext>
            </a:extLst>
          </p:cNvPr>
          <p:cNvSpPr>
            <a:spLocks noGrp="1"/>
          </p:cNvSpPr>
          <p:nvPr>
            <p:ph type="body" sz="quarter" idx="13"/>
          </p:nvPr>
        </p:nvSpPr>
        <p:spPr>
          <a:xfrm>
            <a:off x="372140" y="1429138"/>
            <a:ext cx="10508194" cy="444565"/>
          </a:xfrm>
        </p:spPr>
        <p:txBody>
          <a:bodyPr/>
          <a:lstStyle/>
          <a:p>
            <a:pPr lvl="1"/>
            <a:endParaRPr lang="en-IN" dirty="0"/>
          </a:p>
          <a:p>
            <a:pPr lvl="1"/>
            <a:r>
              <a:rPr lang="en-IN" dirty="0"/>
              <a:t>This module makes Aria dependable. It handles problems such as unclear messages, invalid times, failed deliveries, and API errors, and replies politely instead of failing silently. Logs record incoming messages, agent decisions, tool calls, and outcomes, which makes debugging much easier. Testing then measures how well the system performs. It checks intent accuracy, whether times were parsed correctly, and whether reminders arrived on time. The results show where the agent needs better prompts or logic.</a:t>
            </a:r>
            <a:endParaRPr lang="en-US" dirty="0">
              <a:solidFill>
                <a:srgbClr val="1C3898"/>
              </a:solidFill>
            </a:endParaRPr>
          </a:p>
        </p:txBody>
      </p:sp>
      <p:sp>
        <p:nvSpPr>
          <p:cNvPr id="3" name="TextBox 2">
            <a:extLst>
              <a:ext uri="{FF2B5EF4-FFF2-40B4-BE49-F238E27FC236}">
                <a16:creationId xmlns:a16="http://schemas.microsoft.com/office/drawing/2014/main" id="{5040136B-8AE6-1122-5ECD-1B1E316EEFF9}"/>
              </a:ext>
            </a:extLst>
          </p:cNvPr>
          <p:cNvSpPr txBox="1"/>
          <p:nvPr/>
        </p:nvSpPr>
        <p:spPr>
          <a:xfrm>
            <a:off x="255996" y="502545"/>
            <a:ext cx="10624338" cy="646331"/>
          </a:xfrm>
          <a:prstGeom prst="rect">
            <a:avLst/>
          </a:prstGeom>
          <a:noFill/>
        </p:spPr>
        <p:txBody>
          <a:bodyPr wrap="square" rtlCol="0">
            <a:spAutoFit/>
          </a:bodyPr>
          <a:lstStyle/>
          <a:p>
            <a:pPr lvl="0">
              <a:defRPr/>
            </a:pPr>
            <a:r>
              <a:rPr lang="en-IN" sz="3600" dirty="0"/>
              <a:t>8. Error Handling, Logging, and Testing Module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5589040C-3286-0C61-3E44-83D2B5EEE736}"/>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D820470-B25F-17B9-388A-9BB7EA6F794E}"/>
              </a:ext>
            </a:extLst>
          </p:cNvPr>
          <p:cNvSpPr/>
          <p:nvPr/>
        </p:nvSpPr>
        <p:spPr>
          <a:xfrm>
            <a:off x="10546976" y="6550694"/>
            <a:ext cx="1645024" cy="307306"/>
          </a:xfrm>
          <a:prstGeom prst="rect">
            <a:avLst/>
          </a:prstGeom>
          <a:solidFill>
            <a:schemeClr val="bg1"/>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pic>
        <p:nvPicPr>
          <p:cNvPr id="8" name="Picture 6" descr="LTM Limited (Formerly LTIMindtree Limited)">
            <a:extLst>
              <a:ext uri="{FF2B5EF4-FFF2-40B4-BE49-F238E27FC236}">
                <a16:creationId xmlns:a16="http://schemas.microsoft.com/office/drawing/2014/main" id="{E96675F6-EBDF-2CF5-37D2-BF9F66E7C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6884" y="6611556"/>
            <a:ext cx="705207" cy="18558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CF8B281-9A3E-9CFA-5DD8-C50AA5C67224}"/>
              </a:ext>
            </a:extLst>
          </p:cNvPr>
          <p:cNvSpPr txBox="1"/>
          <p:nvPr/>
        </p:nvSpPr>
        <p:spPr>
          <a:xfrm>
            <a:off x="2158582" y="902"/>
            <a:ext cx="10273260" cy="646331"/>
          </a:xfrm>
          <a:prstGeom prst="rect">
            <a:avLst/>
          </a:prstGeom>
          <a:noFill/>
        </p:spPr>
        <p:txBody>
          <a:bodyPr wrap="square" rtlCol="0">
            <a:spAutoFit/>
          </a:bodyPr>
          <a:lstStyle/>
          <a:p>
            <a:pPr algn="ctr">
              <a:defRPr/>
            </a:pPr>
            <a:r>
              <a:rPr lang="en-US" b="1" dirty="0">
                <a:solidFill>
                  <a:schemeClr val="bg1"/>
                </a:solidFill>
                <a:cs typeface="Arial" panose="020B0604020202020204" pitchFamily="34" charset="0"/>
              </a:rPr>
              <a:t>WYFE: A Multimodal Personal Agent for Scheduling notes and Messaging</a:t>
            </a:r>
          </a:p>
          <a:p>
            <a:pPr lvl="0" algn="ctr">
              <a:defRPr/>
            </a:pPr>
            <a:endParaRPr lang="en-US" b="1" dirty="0">
              <a:solidFill>
                <a:srgbClr val="FFFFFF"/>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826061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3072</Words>
  <Application>Microsoft Office PowerPoint</Application>
  <PresentationFormat>Widescreen</PresentationFormat>
  <Paragraphs>203</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(Body)</vt:lpstr>
      <vt:lpstr>Calibri Light</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Saikrishnan P</cp:lastModifiedBy>
  <cp:revision>22</cp:revision>
  <dcterms:created xsi:type="dcterms:W3CDTF">2024-05-13T10:33:11Z</dcterms:created>
  <dcterms:modified xsi:type="dcterms:W3CDTF">2026-10-05T15:06:11Z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