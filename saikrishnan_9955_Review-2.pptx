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4" r:id="rId5"/>
    <p:sldId id="2147470491" r:id="rId6"/>
    <p:sldId id="2147470507" r:id="rId7"/>
    <p:sldId id="2147470508" r:id="rId8"/>
    <p:sldId id="2147470509" r:id="rId9"/>
    <p:sldId id="2147470510" r:id="rId10"/>
    <p:sldId id="2147470511" r:id="rId11"/>
    <p:sldId id="2147470521" r:id="rId12"/>
    <p:sldId id="2147470522" r:id="rId13"/>
    <p:sldId id="2147470523" r:id="rId14"/>
    <p:sldId id="2147470514" r:id="rId15"/>
    <p:sldId id="2147470517" r:id="rId16"/>
    <p:sldId id="2147470519" r:id="rId17"/>
    <p:sldId id="214747052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B9ED"/>
    <a:srgbClr val="30BBDA"/>
    <a:srgbClr val="FFFFFF"/>
    <a:srgbClr val="47BDAE"/>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94660"/>
  </p:normalViewPr>
  <p:slideViewPr>
    <p:cSldViewPr snapToGrid="0">
      <p:cViewPr varScale="1">
        <p:scale>
          <a:sx n="64" d="100"/>
          <a:sy n="64" d="100"/>
        </p:scale>
        <p:origin x="942"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334616" y="1542814"/>
            <a:ext cx="11428184" cy="5909310"/>
          </a:xfrm>
          <a:prstGeom prst="rect">
            <a:avLst/>
          </a:prstGeom>
          <a:noFill/>
        </p:spPr>
        <p:txBody>
          <a:bodyPr wrap="square">
            <a:spAutoFit/>
          </a:bodyPr>
          <a:lstStyle/>
          <a:p>
            <a:pPr algn="ctr">
              <a:defRPr/>
            </a:pPr>
            <a:r>
              <a:rPr lang="en-US" sz="3600" b="1" dirty="0">
                <a:solidFill>
                  <a:prstClr val="white"/>
                </a:solidFill>
                <a:cs typeface="Calibri" panose="020F0502020204030204" pitchFamily="34" charset="0"/>
              </a:rPr>
              <a:t>Review II</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1" dirty="0">
              <a:solidFill>
                <a:prstClr val="white"/>
              </a:solidFill>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SAIKRISHNAN P</a:t>
            </a:r>
          </a:p>
          <a:p>
            <a:pPr algn="ctr">
              <a:defRPr/>
            </a:pPr>
            <a:r>
              <a:rPr lang="en-US" sz="2400" b="1" dirty="0">
                <a:solidFill>
                  <a:prstClr val="white"/>
                </a:solidFill>
                <a:cs typeface="Calibri" panose="020F0502020204030204" pitchFamily="34" charset="0"/>
              </a:rPr>
              <a:t>CRESCENT 2025-27</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3527000795"/>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7" name="Picture 6">
            <a:extLst>
              <a:ext uri="{FF2B5EF4-FFF2-40B4-BE49-F238E27FC236}">
                <a16:creationId xmlns:a16="http://schemas.microsoft.com/office/drawing/2014/main" id="{7DF0C71D-D9A7-2E72-176A-2DAF9A8E5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453" y="5340187"/>
            <a:ext cx="5181827" cy="1872376"/>
          </a:xfrm>
          <a:prstGeom prst="rect">
            <a:avLst/>
          </a:prstGeom>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392546" y="1234637"/>
            <a:ext cx="10624338" cy="6317458"/>
          </a:xfrm>
        </p:spPr>
        <p:txBody>
          <a:bodyPr/>
          <a:lstStyle/>
          <a:p>
            <a:pPr algn="just">
              <a:lnSpc>
                <a:spcPct val="150000"/>
              </a:lnSpc>
              <a:spcAft>
                <a:spcPts val="1600"/>
              </a:spcAft>
              <a:buSzPct val="100000"/>
            </a:pPr>
            <a:r>
              <a:rPr lang="en-IN" sz="2400" b="0" dirty="0" err="1">
                <a:solidFill>
                  <a:schemeClr val="tx1"/>
                </a:solidFill>
                <a:latin typeface="+mn-lt"/>
              </a:rPr>
              <a:t>CodeSage</a:t>
            </a:r>
            <a:r>
              <a:rPr lang="en-IN" sz="2400" b="0" dirty="0">
                <a:solidFill>
                  <a:schemeClr val="tx1"/>
                </a:solidFill>
                <a:latin typeface="+mn-lt"/>
              </a:rPr>
              <a:t> is a RAG tool that answers natural-language questions about any GitHub repo by chunking its code (AST-aware for Python/JS/TS/Java/notebooks), indexing it with hybrid vector + keyword search, and generating cited answers via an LLM agent pipeline. </a:t>
            </a:r>
          </a:p>
          <a:p>
            <a:pPr algn="just">
              <a:lnSpc>
                <a:spcPct val="150000"/>
              </a:lnSpc>
              <a:spcAft>
                <a:spcPts val="1600"/>
              </a:spcAft>
              <a:buSzPct val="100000"/>
            </a:pPr>
            <a:r>
              <a:rPr lang="en-IN" sz="2400" b="0" dirty="0">
                <a:solidFill>
                  <a:schemeClr val="tx1"/>
                </a:solidFill>
                <a:latin typeface="+mn-lt"/>
              </a:rPr>
              <a:t>It runs as a </a:t>
            </a:r>
            <a:r>
              <a:rPr lang="en-IN" sz="2400" b="0" dirty="0" err="1">
                <a:solidFill>
                  <a:schemeClr val="tx1"/>
                </a:solidFill>
                <a:latin typeface="+mn-lt"/>
              </a:rPr>
              <a:t>FastAPI</a:t>
            </a:r>
            <a:r>
              <a:rPr lang="en-IN" sz="2400" b="0" dirty="0">
                <a:solidFill>
                  <a:schemeClr val="tx1"/>
                </a:solidFill>
                <a:latin typeface="+mn-lt"/>
              </a:rPr>
              <a:t> service — /ingest a repo, /query it in plain English — deployable via Docker, and is currently live and fully verified end-to-end on your own Railway deployment.</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
        <p:nvSpPr>
          <p:cNvPr id="6" name="Rectangle 5">
            <a:extLst>
              <a:ext uri="{FF2B5EF4-FFF2-40B4-BE49-F238E27FC236}">
                <a16:creationId xmlns:a16="http://schemas.microsoft.com/office/drawing/2014/main" id="{E78BCCFA-EF04-B2CC-C841-FEA7F8E80249}"/>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7" name="Picture 6" descr="LTM Limited (Formerly LTIMindtree Limited)">
            <a:extLst>
              <a:ext uri="{FF2B5EF4-FFF2-40B4-BE49-F238E27FC236}">
                <a16:creationId xmlns:a16="http://schemas.microsoft.com/office/drawing/2014/main" id="{1E1CD245-7E67-BEF3-30D0-C20486857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algn="just">
              <a:spcAft>
                <a:spcPts val="1600"/>
              </a:spcAft>
              <a:buSzPct val="100000"/>
            </a:pPr>
            <a:r>
              <a:rPr lang="en-IN" sz="2400" b="0" dirty="0">
                <a:solidFill>
                  <a:schemeClr val="tx1"/>
                </a:solidFill>
                <a:latin typeface="+mn-lt"/>
                <a:cs typeface="LilyUPC" panose="020B0502040204020203" pitchFamily="34" charset="-34"/>
              </a:rPr>
              <a:t>Lets developers query a codebase in plain English instead of manually searching or reading through unfamiliar source files, getting answers grounded in the actual code with file/line citations.</a:t>
            </a:r>
          </a:p>
          <a:p>
            <a:pPr algn="just">
              <a:spcAft>
                <a:spcPts val="1600"/>
              </a:spcAft>
              <a:buSzPct val="100000"/>
            </a:pPr>
            <a:r>
              <a:rPr lang="en-IN" sz="2400" b="0" dirty="0">
                <a:solidFill>
                  <a:schemeClr val="tx1"/>
                </a:solidFill>
                <a:latin typeface="+mn-lt"/>
                <a:cs typeface="LilyUPC" panose="020B0502040204020203" pitchFamily="34" charset="-34"/>
              </a:rPr>
              <a:t>Do this accurately and verifiably — using AST-aware chunking (not blind text splitting) and hybrid retrieval, with an LLM verify step that checks the answer is actually supported by the retrieved code before returning it.</a:t>
            </a:r>
          </a:p>
          <a:p>
            <a:pPr algn="just">
              <a:spcAft>
                <a:spcPts val="1600"/>
              </a:spcAft>
              <a:buSzPct val="100000"/>
            </a:pPr>
            <a:r>
              <a:rPr lang="en-IN" sz="2400" b="0" dirty="0">
                <a:solidFill>
                  <a:schemeClr val="tx1"/>
                </a:solidFill>
                <a:latin typeface="+mn-lt"/>
                <a:cs typeface="LilyUPC" panose="020B0502040204020203" pitchFamily="34" charset="-34"/>
              </a:rPr>
              <a:t>Make it practically deployable and usable, not just a local script — packaged as a </a:t>
            </a:r>
            <a:r>
              <a:rPr lang="en-IN" sz="2400" b="0" dirty="0" err="1">
                <a:solidFill>
                  <a:schemeClr val="tx1"/>
                </a:solidFill>
                <a:latin typeface="+mn-lt"/>
                <a:cs typeface="LilyUPC" panose="020B0502040204020203" pitchFamily="34" charset="-34"/>
              </a:rPr>
              <a:t>FastAPI</a:t>
            </a:r>
            <a:r>
              <a:rPr lang="en-IN" sz="2400" b="0" dirty="0">
                <a:solidFill>
                  <a:schemeClr val="tx1"/>
                </a:solidFill>
                <a:latin typeface="+mn-lt"/>
                <a:cs typeface="LilyUPC" panose="020B0502040204020203" pitchFamily="34" charset="-34"/>
              </a:rPr>
              <a:t> service with async, non-blocking ingestion (so real-sized repos don't time out), persistent storage across restarts, and repo management endpoints, all runnable in production (as verified on your own Railway deployment).</a:t>
            </a:r>
            <a:endParaRPr lang="en-US" sz="2400" b="0" dirty="0">
              <a:solidFill>
                <a:schemeClr val="tx1"/>
              </a:solidFill>
              <a:latin typeface="+mn-lt"/>
              <a:cs typeface="LilyUPC" panose="020B0502040204020203" pitchFamily="34" charset="-34"/>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D549017-0E91-F5C7-E849-0D494C0313E7}"/>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9" name="Picture 6" descr="LTM Limited (Formerly LTIMindtree Limited)">
            <a:extLst>
              <a:ext uri="{FF2B5EF4-FFF2-40B4-BE49-F238E27FC236}">
                <a16:creationId xmlns:a16="http://schemas.microsoft.com/office/drawing/2014/main" id="{72D1A61C-8BDB-B51A-40AE-E9C0B25CBA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DF76CF2-A00C-F785-FADC-227139C244F6}"/>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919718"/>
          </a:xfrm>
        </p:spPr>
        <p:txBody>
          <a:bodyPr/>
          <a:lstStyle/>
          <a:p>
            <a:pPr algn="just">
              <a:spcAft>
                <a:spcPts val="1600"/>
              </a:spcAft>
              <a:buSzPct val="100000"/>
            </a:pPr>
            <a:r>
              <a:rPr lang="en-IN" sz="2400" b="0" dirty="0">
                <a:solidFill>
                  <a:schemeClr val="tx1"/>
                </a:solidFill>
                <a:latin typeface="+mn-lt"/>
              </a:rPr>
              <a:t>What it handles: ingesting GitHub repos (or local folders) across multiple languages — Python, JS/TS, Java, HTML/CSS/SCSS, and Jupyter notebooks — chunking them intelligently, indexing with hybrid (vector + keyword) search, and answering natural-language questions with cited, LLM-generated responses via a </a:t>
            </a:r>
            <a:r>
              <a:rPr lang="en-IN" sz="2400" b="0" dirty="0" err="1">
                <a:solidFill>
                  <a:schemeClr val="tx1"/>
                </a:solidFill>
                <a:latin typeface="+mn-lt"/>
              </a:rPr>
              <a:t>FastAPI</a:t>
            </a:r>
            <a:r>
              <a:rPr lang="en-IN" sz="2400" b="0" dirty="0">
                <a:solidFill>
                  <a:schemeClr val="tx1"/>
                </a:solidFill>
                <a:latin typeface="+mn-lt"/>
              </a:rPr>
              <a:t> service.</a:t>
            </a:r>
          </a:p>
          <a:p>
            <a:pPr algn="just">
              <a:spcAft>
                <a:spcPts val="1600"/>
              </a:spcAft>
              <a:buSzPct val="100000"/>
            </a:pPr>
            <a:r>
              <a:rPr lang="en-IN" sz="2400" b="0" dirty="0">
                <a:solidFill>
                  <a:schemeClr val="tx1"/>
                </a:solidFill>
                <a:latin typeface="+mn-lt"/>
              </a:rPr>
              <a:t>What it manages: multiple repos indexed side-by-side (filterable per-repo at query time), with endpoints to list, re-ingest, and delete indexed repos, plus persistent storage so data survives restarts/redeploys.</a:t>
            </a:r>
          </a:p>
          <a:p>
            <a:pPr algn="just">
              <a:spcAft>
                <a:spcPts val="1600"/>
              </a:spcAft>
              <a:buSzPct val="100000"/>
            </a:pPr>
            <a:r>
              <a:rPr lang="en-IN" sz="2400" b="0" dirty="0">
                <a:solidFill>
                  <a:schemeClr val="tx1"/>
                </a:solidFill>
                <a:latin typeface="+mn-lt"/>
              </a:rPr>
              <a:t>What it doesn't cover: live/deployed websites (only repo source code, not crawling a running site), non-code file types beyond what's explicitly chunked, and it's a single-instance design — no multi-user auth, no distributed/multi-replica job queue (the in-memory job tracking assumes one instance).</a:t>
            </a:r>
            <a:endParaRPr lang="en-US" sz="2400" b="0" dirty="0">
              <a:solidFill>
                <a:schemeClr val="tx1"/>
              </a:solidFill>
              <a:latin typeface="+mn-lt"/>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AutoShape 2" descr="LTIMindtree Logo">
            <a:extLst>
              <a:ext uri="{FF2B5EF4-FFF2-40B4-BE49-F238E27FC236}">
                <a16:creationId xmlns:a16="http://schemas.microsoft.com/office/drawing/2014/main" id="{23863276-72E5-30AB-392D-D8D21A2E79C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Rectangle 8">
            <a:extLst>
              <a:ext uri="{FF2B5EF4-FFF2-40B4-BE49-F238E27FC236}">
                <a16:creationId xmlns:a16="http://schemas.microsoft.com/office/drawing/2014/main" id="{53632E79-658D-9E93-B5C2-C0CA952E704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030" name="Picture 6" descr="LTM Limited (Formerly LTIMindtree Limited)">
            <a:extLst>
              <a:ext uri="{FF2B5EF4-FFF2-40B4-BE49-F238E27FC236}">
                <a16:creationId xmlns:a16="http://schemas.microsoft.com/office/drawing/2014/main" id="{71A73E9E-CECD-2252-34B1-1B287A4B83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8A45FDD-B79A-FAC6-CB15-A8AA0B6013AB}"/>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5B63B2D-7B75-C470-2E06-DBCE99141014}"/>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E4316486-4CBB-6223-6F62-CBC22688DB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Shape 4">
            <a:extLst>
              <a:ext uri="{FF2B5EF4-FFF2-40B4-BE49-F238E27FC236}">
                <a16:creationId xmlns:a16="http://schemas.microsoft.com/office/drawing/2014/main" id="{A1C0A09B-4A68-05FE-7C52-AF4AB962A397}"/>
              </a:ext>
            </a:extLst>
          </p:cNvPr>
          <p:cNvSpPr/>
          <p:nvPr/>
        </p:nvSpPr>
        <p:spPr>
          <a:xfrm>
            <a:off x="512439"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0" name="Shape 5">
            <a:extLst>
              <a:ext uri="{FF2B5EF4-FFF2-40B4-BE49-F238E27FC236}">
                <a16:creationId xmlns:a16="http://schemas.microsoft.com/office/drawing/2014/main" id="{A0BF02D0-F07E-9D7D-2B77-A3B35A98442D}"/>
              </a:ext>
            </a:extLst>
          </p:cNvPr>
          <p:cNvSpPr/>
          <p:nvPr/>
        </p:nvSpPr>
        <p:spPr>
          <a:xfrm>
            <a:off x="677031" y="1815245"/>
            <a:ext cx="502920" cy="502920"/>
          </a:xfrm>
          <a:prstGeom prst="ellipse">
            <a:avLst/>
          </a:prstGeom>
          <a:solidFill>
            <a:srgbClr val="1E2761"/>
          </a:solidFill>
          <a:ln/>
        </p:spPr>
        <p:txBody>
          <a:bodyPr/>
          <a:lstStyle/>
          <a:p>
            <a:endParaRPr lang="en-IN"/>
          </a:p>
        </p:txBody>
      </p:sp>
      <p:sp>
        <p:nvSpPr>
          <p:cNvPr id="11" name="Text 6">
            <a:extLst>
              <a:ext uri="{FF2B5EF4-FFF2-40B4-BE49-F238E27FC236}">
                <a16:creationId xmlns:a16="http://schemas.microsoft.com/office/drawing/2014/main" id="{39080F93-4354-390A-EBBE-306BE59734B4}"/>
              </a:ext>
            </a:extLst>
          </p:cNvPr>
          <p:cNvSpPr txBox="1"/>
          <p:nvPr/>
        </p:nvSpPr>
        <p:spPr>
          <a:xfrm>
            <a:off x="677031"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1</a:t>
            </a:r>
            <a:endParaRPr lang="en-US" sz="1870" dirty="0"/>
          </a:p>
        </p:txBody>
      </p:sp>
      <p:sp>
        <p:nvSpPr>
          <p:cNvPr id="12" name="Text 7">
            <a:extLst>
              <a:ext uri="{FF2B5EF4-FFF2-40B4-BE49-F238E27FC236}">
                <a16:creationId xmlns:a16="http://schemas.microsoft.com/office/drawing/2014/main" id="{2F563EB3-0A20-29B0-F3BE-999A345787DD}"/>
              </a:ext>
            </a:extLst>
          </p:cNvPr>
          <p:cNvSpPr txBox="1"/>
          <p:nvPr/>
        </p:nvSpPr>
        <p:spPr>
          <a:xfrm>
            <a:off x="1335399" y="155464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Data Ingestion  Chunking</a:t>
            </a:r>
            <a:endParaRPr lang="en-US" sz="1500" dirty="0"/>
          </a:p>
        </p:txBody>
      </p:sp>
      <p:sp>
        <p:nvSpPr>
          <p:cNvPr id="13" name="Shape 8">
            <a:extLst>
              <a:ext uri="{FF2B5EF4-FFF2-40B4-BE49-F238E27FC236}">
                <a16:creationId xmlns:a16="http://schemas.microsoft.com/office/drawing/2014/main" id="{4C591075-74BE-6B88-2A10-A2FDF00DF565}"/>
              </a:ext>
            </a:extLst>
          </p:cNvPr>
          <p:cNvSpPr/>
          <p:nvPr/>
        </p:nvSpPr>
        <p:spPr>
          <a:xfrm>
            <a:off x="6149715"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4" name="Shape 9">
            <a:extLst>
              <a:ext uri="{FF2B5EF4-FFF2-40B4-BE49-F238E27FC236}">
                <a16:creationId xmlns:a16="http://schemas.microsoft.com/office/drawing/2014/main" id="{A17FCF80-8FA0-E4B4-AB0C-5944343B231B}"/>
              </a:ext>
            </a:extLst>
          </p:cNvPr>
          <p:cNvSpPr/>
          <p:nvPr/>
        </p:nvSpPr>
        <p:spPr>
          <a:xfrm>
            <a:off x="6314307" y="1815245"/>
            <a:ext cx="502920" cy="502920"/>
          </a:xfrm>
          <a:prstGeom prst="ellipse">
            <a:avLst/>
          </a:prstGeom>
          <a:solidFill>
            <a:srgbClr val="1E2761"/>
          </a:solidFill>
          <a:ln/>
        </p:spPr>
        <p:txBody>
          <a:bodyPr/>
          <a:lstStyle/>
          <a:p>
            <a:endParaRPr lang="en-IN"/>
          </a:p>
        </p:txBody>
      </p:sp>
      <p:sp>
        <p:nvSpPr>
          <p:cNvPr id="15" name="Text 10">
            <a:extLst>
              <a:ext uri="{FF2B5EF4-FFF2-40B4-BE49-F238E27FC236}">
                <a16:creationId xmlns:a16="http://schemas.microsoft.com/office/drawing/2014/main" id="{28CFD482-69F8-742A-CD65-E42D8B4DE873}"/>
              </a:ext>
            </a:extLst>
          </p:cNvPr>
          <p:cNvSpPr txBox="1"/>
          <p:nvPr/>
        </p:nvSpPr>
        <p:spPr>
          <a:xfrm>
            <a:off x="6314307"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2</a:t>
            </a:r>
            <a:endParaRPr lang="en-US" sz="1870" dirty="0"/>
          </a:p>
        </p:txBody>
      </p:sp>
      <p:sp>
        <p:nvSpPr>
          <p:cNvPr id="16" name="Text 11">
            <a:extLst>
              <a:ext uri="{FF2B5EF4-FFF2-40B4-BE49-F238E27FC236}">
                <a16:creationId xmlns:a16="http://schemas.microsoft.com/office/drawing/2014/main" id="{F22BD0E9-CA5E-B269-A0D1-CDA4A760740D}"/>
              </a:ext>
            </a:extLst>
          </p:cNvPr>
          <p:cNvSpPr txBox="1"/>
          <p:nvPr/>
        </p:nvSpPr>
        <p:spPr>
          <a:xfrm>
            <a:off x="6972675" y="1554641"/>
            <a:ext cx="4311396" cy="1024128"/>
          </a:xfrm>
          <a:prstGeom prst="rect">
            <a:avLst/>
          </a:prstGeom>
          <a:noFill/>
          <a:ln/>
        </p:spPr>
        <p:txBody>
          <a:bodyPr wrap="square" lIns="0" tIns="0" rIns="0" bIns="0" rtlCol="0" anchor="ctr"/>
          <a:lstStyle/>
          <a:p>
            <a:r>
              <a:rPr lang="en-US" sz="1500" b="1" dirty="0">
                <a:solidFill>
                  <a:srgbClr val="2A2E43"/>
                </a:solidFill>
                <a:latin typeface="Calibri" pitchFamily="34" charset="0"/>
                <a:ea typeface="Calibri" pitchFamily="34" charset="-122"/>
                <a:cs typeface="Calibri" pitchFamily="34" charset="-120"/>
              </a:rPr>
              <a:t>Code Chunking</a:t>
            </a:r>
            <a:endParaRPr lang="en-US" sz="1500" dirty="0"/>
          </a:p>
        </p:txBody>
      </p:sp>
      <p:sp>
        <p:nvSpPr>
          <p:cNvPr id="17" name="Shape 12">
            <a:extLst>
              <a:ext uri="{FF2B5EF4-FFF2-40B4-BE49-F238E27FC236}">
                <a16:creationId xmlns:a16="http://schemas.microsoft.com/office/drawing/2014/main" id="{2896E952-EF91-A459-D08B-E75A49CA8B1B}"/>
              </a:ext>
            </a:extLst>
          </p:cNvPr>
          <p:cNvSpPr/>
          <p:nvPr/>
        </p:nvSpPr>
        <p:spPr>
          <a:xfrm>
            <a:off x="512439"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8" name="Shape 13">
            <a:extLst>
              <a:ext uri="{FF2B5EF4-FFF2-40B4-BE49-F238E27FC236}">
                <a16:creationId xmlns:a16="http://schemas.microsoft.com/office/drawing/2014/main" id="{E9CB7F38-3360-8E62-6EF5-6F078A1E3920}"/>
              </a:ext>
            </a:extLst>
          </p:cNvPr>
          <p:cNvSpPr/>
          <p:nvPr/>
        </p:nvSpPr>
        <p:spPr>
          <a:xfrm>
            <a:off x="677031" y="3003965"/>
            <a:ext cx="502920" cy="502920"/>
          </a:xfrm>
          <a:prstGeom prst="ellipse">
            <a:avLst/>
          </a:prstGeom>
          <a:solidFill>
            <a:srgbClr val="1E2761"/>
          </a:solidFill>
          <a:ln/>
        </p:spPr>
        <p:txBody>
          <a:bodyPr/>
          <a:lstStyle/>
          <a:p>
            <a:endParaRPr lang="en-IN"/>
          </a:p>
        </p:txBody>
      </p:sp>
      <p:sp>
        <p:nvSpPr>
          <p:cNvPr id="19" name="Text 14">
            <a:extLst>
              <a:ext uri="{FF2B5EF4-FFF2-40B4-BE49-F238E27FC236}">
                <a16:creationId xmlns:a16="http://schemas.microsoft.com/office/drawing/2014/main" id="{E3458C21-6AF0-A10D-86D1-1FF94A7EBC12}"/>
              </a:ext>
            </a:extLst>
          </p:cNvPr>
          <p:cNvSpPr txBox="1"/>
          <p:nvPr/>
        </p:nvSpPr>
        <p:spPr>
          <a:xfrm>
            <a:off x="677031"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3</a:t>
            </a:r>
            <a:endParaRPr lang="en-US" sz="1870" dirty="0"/>
          </a:p>
        </p:txBody>
      </p:sp>
      <p:sp>
        <p:nvSpPr>
          <p:cNvPr id="20" name="Text 15">
            <a:extLst>
              <a:ext uri="{FF2B5EF4-FFF2-40B4-BE49-F238E27FC236}">
                <a16:creationId xmlns:a16="http://schemas.microsoft.com/office/drawing/2014/main" id="{92950EE7-3CC0-4089-4E74-0C9C031B3FE5}"/>
              </a:ext>
            </a:extLst>
          </p:cNvPr>
          <p:cNvSpPr txBox="1"/>
          <p:nvPr/>
        </p:nvSpPr>
        <p:spPr>
          <a:xfrm>
            <a:off x="1335399"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Embedding Generation</a:t>
            </a:r>
            <a:endParaRPr lang="en-US" sz="1500" dirty="0"/>
          </a:p>
        </p:txBody>
      </p:sp>
      <p:sp>
        <p:nvSpPr>
          <p:cNvPr id="21" name="Shape 16">
            <a:extLst>
              <a:ext uri="{FF2B5EF4-FFF2-40B4-BE49-F238E27FC236}">
                <a16:creationId xmlns:a16="http://schemas.microsoft.com/office/drawing/2014/main" id="{B8D64F29-E160-BD9F-007C-F7250E7C23F0}"/>
              </a:ext>
            </a:extLst>
          </p:cNvPr>
          <p:cNvSpPr/>
          <p:nvPr/>
        </p:nvSpPr>
        <p:spPr>
          <a:xfrm>
            <a:off x="6149715"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2" name="Shape 17">
            <a:extLst>
              <a:ext uri="{FF2B5EF4-FFF2-40B4-BE49-F238E27FC236}">
                <a16:creationId xmlns:a16="http://schemas.microsoft.com/office/drawing/2014/main" id="{CF27F0C2-C498-66C7-9920-674B07F3C892}"/>
              </a:ext>
            </a:extLst>
          </p:cNvPr>
          <p:cNvSpPr/>
          <p:nvPr/>
        </p:nvSpPr>
        <p:spPr>
          <a:xfrm>
            <a:off x="6314307" y="3003965"/>
            <a:ext cx="502920" cy="502920"/>
          </a:xfrm>
          <a:prstGeom prst="ellipse">
            <a:avLst/>
          </a:prstGeom>
          <a:solidFill>
            <a:srgbClr val="1E2761"/>
          </a:solidFill>
          <a:ln/>
        </p:spPr>
        <p:txBody>
          <a:bodyPr/>
          <a:lstStyle/>
          <a:p>
            <a:endParaRPr lang="en-IN"/>
          </a:p>
        </p:txBody>
      </p:sp>
      <p:sp>
        <p:nvSpPr>
          <p:cNvPr id="23" name="Text 18">
            <a:extLst>
              <a:ext uri="{FF2B5EF4-FFF2-40B4-BE49-F238E27FC236}">
                <a16:creationId xmlns:a16="http://schemas.microsoft.com/office/drawing/2014/main" id="{D5F7D005-20B8-7278-051A-6F72FCF4A831}"/>
              </a:ext>
            </a:extLst>
          </p:cNvPr>
          <p:cNvSpPr txBox="1"/>
          <p:nvPr/>
        </p:nvSpPr>
        <p:spPr>
          <a:xfrm>
            <a:off x="6314307"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4</a:t>
            </a:r>
            <a:endParaRPr lang="en-US" sz="1870" dirty="0"/>
          </a:p>
        </p:txBody>
      </p:sp>
      <p:sp>
        <p:nvSpPr>
          <p:cNvPr id="24" name="Text 19">
            <a:extLst>
              <a:ext uri="{FF2B5EF4-FFF2-40B4-BE49-F238E27FC236}">
                <a16:creationId xmlns:a16="http://schemas.microsoft.com/office/drawing/2014/main" id="{7B18C14D-1A79-F962-BDB7-CFCA36ACF276}"/>
              </a:ext>
            </a:extLst>
          </p:cNvPr>
          <p:cNvSpPr txBox="1"/>
          <p:nvPr/>
        </p:nvSpPr>
        <p:spPr>
          <a:xfrm>
            <a:off x="6972675"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Vector Database</a:t>
            </a:r>
            <a:endParaRPr lang="en-US" sz="1500" dirty="0"/>
          </a:p>
        </p:txBody>
      </p:sp>
      <p:sp>
        <p:nvSpPr>
          <p:cNvPr id="25" name="Shape 20">
            <a:extLst>
              <a:ext uri="{FF2B5EF4-FFF2-40B4-BE49-F238E27FC236}">
                <a16:creationId xmlns:a16="http://schemas.microsoft.com/office/drawing/2014/main" id="{AD4B2FEB-D721-B5B8-F97D-A9B74EA160E3}"/>
              </a:ext>
            </a:extLst>
          </p:cNvPr>
          <p:cNvSpPr/>
          <p:nvPr/>
        </p:nvSpPr>
        <p:spPr>
          <a:xfrm>
            <a:off x="512439"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6" name="Shape 21">
            <a:extLst>
              <a:ext uri="{FF2B5EF4-FFF2-40B4-BE49-F238E27FC236}">
                <a16:creationId xmlns:a16="http://schemas.microsoft.com/office/drawing/2014/main" id="{A43CB245-E08D-594A-21A2-C8F1316C25CB}"/>
              </a:ext>
            </a:extLst>
          </p:cNvPr>
          <p:cNvSpPr/>
          <p:nvPr/>
        </p:nvSpPr>
        <p:spPr>
          <a:xfrm>
            <a:off x="677031" y="4192685"/>
            <a:ext cx="502920" cy="502920"/>
          </a:xfrm>
          <a:prstGeom prst="ellipse">
            <a:avLst/>
          </a:prstGeom>
          <a:solidFill>
            <a:srgbClr val="1E2761"/>
          </a:solidFill>
          <a:ln/>
        </p:spPr>
        <p:txBody>
          <a:bodyPr/>
          <a:lstStyle/>
          <a:p>
            <a:endParaRPr lang="en-IN"/>
          </a:p>
        </p:txBody>
      </p:sp>
      <p:sp>
        <p:nvSpPr>
          <p:cNvPr id="27" name="Text 22">
            <a:extLst>
              <a:ext uri="{FF2B5EF4-FFF2-40B4-BE49-F238E27FC236}">
                <a16:creationId xmlns:a16="http://schemas.microsoft.com/office/drawing/2014/main" id="{B82726FD-8D87-2925-EB11-D83636FB8FC2}"/>
              </a:ext>
            </a:extLst>
          </p:cNvPr>
          <p:cNvSpPr txBox="1"/>
          <p:nvPr/>
        </p:nvSpPr>
        <p:spPr>
          <a:xfrm>
            <a:off x="677031"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5</a:t>
            </a:r>
            <a:endParaRPr lang="en-US" sz="1870" dirty="0"/>
          </a:p>
        </p:txBody>
      </p:sp>
      <p:sp>
        <p:nvSpPr>
          <p:cNvPr id="28" name="Text 23">
            <a:extLst>
              <a:ext uri="{FF2B5EF4-FFF2-40B4-BE49-F238E27FC236}">
                <a16:creationId xmlns:a16="http://schemas.microsoft.com/office/drawing/2014/main" id="{65500CE8-B7CA-5114-FF69-057793ACABF3}"/>
              </a:ext>
            </a:extLst>
          </p:cNvPr>
          <p:cNvSpPr txBox="1"/>
          <p:nvPr/>
        </p:nvSpPr>
        <p:spPr>
          <a:xfrm>
            <a:off x="1335399"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Keyword Indexing</a:t>
            </a:r>
            <a:endParaRPr lang="en-US" sz="1500" dirty="0"/>
          </a:p>
        </p:txBody>
      </p:sp>
      <p:sp>
        <p:nvSpPr>
          <p:cNvPr id="29" name="Shape 24">
            <a:extLst>
              <a:ext uri="{FF2B5EF4-FFF2-40B4-BE49-F238E27FC236}">
                <a16:creationId xmlns:a16="http://schemas.microsoft.com/office/drawing/2014/main" id="{6E9CDA3E-400D-911A-6837-BBC17D798075}"/>
              </a:ext>
            </a:extLst>
          </p:cNvPr>
          <p:cNvSpPr/>
          <p:nvPr/>
        </p:nvSpPr>
        <p:spPr>
          <a:xfrm>
            <a:off x="6149715"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0" name="Shape 25">
            <a:extLst>
              <a:ext uri="{FF2B5EF4-FFF2-40B4-BE49-F238E27FC236}">
                <a16:creationId xmlns:a16="http://schemas.microsoft.com/office/drawing/2014/main" id="{6900283B-AE50-7FCB-EA32-5E82A7B3FD99}"/>
              </a:ext>
            </a:extLst>
          </p:cNvPr>
          <p:cNvSpPr/>
          <p:nvPr/>
        </p:nvSpPr>
        <p:spPr>
          <a:xfrm>
            <a:off x="6314307" y="4192685"/>
            <a:ext cx="502920" cy="502920"/>
          </a:xfrm>
          <a:prstGeom prst="ellipse">
            <a:avLst/>
          </a:prstGeom>
          <a:solidFill>
            <a:srgbClr val="1E2761"/>
          </a:solidFill>
          <a:ln/>
        </p:spPr>
        <p:txBody>
          <a:bodyPr/>
          <a:lstStyle/>
          <a:p>
            <a:endParaRPr lang="en-IN"/>
          </a:p>
        </p:txBody>
      </p:sp>
      <p:sp>
        <p:nvSpPr>
          <p:cNvPr id="31" name="Text 26">
            <a:extLst>
              <a:ext uri="{FF2B5EF4-FFF2-40B4-BE49-F238E27FC236}">
                <a16:creationId xmlns:a16="http://schemas.microsoft.com/office/drawing/2014/main" id="{6692C8DB-812B-7221-3792-2BFA63DA9D4F}"/>
              </a:ext>
            </a:extLst>
          </p:cNvPr>
          <p:cNvSpPr txBox="1"/>
          <p:nvPr/>
        </p:nvSpPr>
        <p:spPr>
          <a:xfrm>
            <a:off x="6314307"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6</a:t>
            </a:r>
            <a:endParaRPr lang="en-US" sz="1870" dirty="0"/>
          </a:p>
        </p:txBody>
      </p:sp>
      <p:sp>
        <p:nvSpPr>
          <p:cNvPr id="32" name="Text 27">
            <a:extLst>
              <a:ext uri="{FF2B5EF4-FFF2-40B4-BE49-F238E27FC236}">
                <a16:creationId xmlns:a16="http://schemas.microsoft.com/office/drawing/2014/main" id="{C96A6EEB-8DFB-BF21-30B9-724106DE3245}"/>
              </a:ext>
            </a:extLst>
          </p:cNvPr>
          <p:cNvSpPr txBox="1"/>
          <p:nvPr/>
        </p:nvSpPr>
        <p:spPr>
          <a:xfrm>
            <a:off x="6972675"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Hybrid Retrieval</a:t>
            </a:r>
            <a:endParaRPr lang="en-US" sz="1500" dirty="0"/>
          </a:p>
        </p:txBody>
      </p:sp>
      <p:sp>
        <p:nvSpPr>
          <p:cNvPr id="33" name="Shape 28">
            <a:extLst>
              <a:ext uri="{FF2B5EF4-FFF2-40B4-BE49-F238E27FC236}">
                <a16:creationId xmlns:a16="http://schemas.microsoft.com/office/drawing/2014/main" id="{CC124553-56F4-E6BF-F834-778F8585C7B1}"/>
              </a:ext>
            </a:extLst>
          </p:cNvPr>
          <p:cNvSpPr/>
          <p:nvPr/>
        </p:nvSpPr>
        <p:spPr>
          <a:xfrm>
            <a:off x="512439"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4" name="Shape 29">
            <a:extLst>
              <a:ext uri="{FF2B5EF4-FFF2-40B4-BE49-F238E27FC236}">
                <a16:creationId xmlns:a16="http://schemas.microsoft.com/office/drawing/2014/main" id="{2D3BA62B-94C7-C20B-AE12-ADBE13330335}"/>
              </a:ext>
            </a:extLst>
          </p:cNvPr>
          <p:cNvSpPr/>
          <p:nvPr/>
        </p:nvSpPr>
        <p:spPr>
          <a:xfrm>
            <a:off x="677031" y="5381405"/>
            <a:ext cx="502920" cy="502920"/>
          </a:xfrm>
          <a:prstGeom prst="ellipse">
            <a:avLst/>
          </a:prstGeom>
          <a:solidFill>
            <a:srgbClr val="1E2761"/>
          </a:solidFill>
          <a:ln/>
        </p:spPr>
        <p:txBody>
          <a:bodyPr/>
          <a:lstStyle/>
          <a:p>
            <a:endParaRPr lang="en-IN"/>
          </a:p>
        </p:txBody>
      </p:sp>
      <p:sp>
        <p:nvSpPr>
          <p:cNvPr id="35" name="Text 30">
            <a:extLst>
              <a:ext uri="{FF2B5EF4-FFF2-40B4-BE49-F238E27FC236}">
                <a16:creationId xmlns:a16="http://schemas.microsoft.com/office/drawing/2014/main" id="{343C3D93-274B-78C7-5C3A-B1334C69ADFC}"/>
              </a:ext>
            </a:extLst>
          </p:cNvPr>
          <p:cNvSpPr txBox="1"/>
          <p:nvPr/>
        </p:nvSpPr>
        <p:spPr>
          <a:xfrm>
            <a:off x="677031"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7</a:t>
            </a:r>
            <a:endParaRPr lang="en-US" sz="1870" dirty="0"/>
          </a:p>
        </p:txBody>
      </p:sp>
      <p:sp>
        <p:nvSpPr>
          <p:cNvPr id="36" name="Text 31">
            <a:extLst>
              <a:ext uri="{FF2B5EF4-FFF2-40B4-BE49-F238E27FC236}">
                <a16:creationId xmlns:a16="http://schemas.microsoft.com/office/drawing/2014/main" id="{76A0DD45-803F-C074-3185-7871DEB98D04}"/>
              </a:ext>
            </a:extLst>
          </p:cNvPr>
          <p:cNvSpPr txBox="1"/>
          <p:nvPr/>
        </p:nvSpPr>
        <p:spPr>
          <a:xfrm>
            <a:off x="1335399"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Answer Generation &amp; Verification</a:t>
            </a:r>
            <a:endParaRPr lang="en-US" sz="1500" dirty="0"/>
          </a:p>
        </p:txBody>
      </p:sp>
      <p:sp>
        <p:nvSpPr>
          <p:cNvPr id="37" name="Shape 32">
            <a:extLst>
              <a:ext uri="{FF2B5EF4-FFF2-40B4-BE49-F238E27FC236}">
                <a16:creationId xmlns:a16="http://schemas.microsoft.com/office/drawing/2014/main" id="{AB4BAD79-BCE7-CA02-4904-AD55CD988481}"/>
              </a:ext>
            </a:extLst>
          </p:cNvPr>
          <p:cNvSpPr/>
          <p:nvPr/>
        </p:nvSpPr>
        <p:spPr>
          <a:xfrm>
            <a:off x="6149715"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8" name="Shape 33">
            <a:extLst>
              <a:ext uri="{FF2B5EF4-FFF2-40B4-BE49-F238E27FC236}">
                <a16:creationId xmlns:a16="http://schemas.microsoft.com/office/drawing/2014/main" id="{C93BAD41-348D-B7D0-74DD-5FC2FD5381B4}"/>
              </a:ext>
            </a:extLst>
          </p:cNvPr>
          <p:cNvSpPr/>
          <p:nvPr/>
        </p:nvSpPr>
        <p:spPr>
          <a:xfrm>
            <a:off x="6314307" y="5381405"/>
            <a:ext cx="502920" cy="502920"/>
          </a:xfrm>
          <a:prstGeom prst="ellipse">
            <a:avLst/>
          </a:prstGeom>
          <a:solidFill>
            <a:srgbClr val="1E2761"/>
          </a:solidFill>
          <a:ln/>
        </p:spPr>
        <p:txBody>
          <a:bodyPr/>
          <a:lstStyle/>
          <a:p>
            <a:endParaRPr lang="en-IN"/>
          </a:p>
        </p:txBody>
      </p:sp>
      <p:sp>
        <p:nvSpPr>
          <p:cNvPr id="39" name="Text 34">
            <a:extLst>
              <a:ext uri="{FF2B5EF4-FFF2-40B4-BE49-F238E27FC236}">
                <a16:creationId xmlns:a16="http://schemas.microsoft.com/office/drawing/2014/main" id="{9AFFDC99-7B64-D5E2-E919-CE6B7B76E20D}"/>
              </a:ext>
            </a:extLst>
          </p:cNvPr>
          <p:cNvSpPr txBox="1"/>
          <p:nvPr/>
        </p:nvSpPr>
        <p:spPr>
          <a:xfrm>
            <a:off x="6314307"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8</a:t>
            </a:r>
            <a:endParaRPr lang="en-US" sz="1870" dirty="0"/>
          </a:p>
        </p:txBody>
      </p:sp>
      <p:sp>
        <p:nvSpPr>
          <p:cNvPr id="40" name="Text 35">
            <a:extLst>
              <a:ext uri="{FF2B5EF4-FFF2-40B4-BE49-F238E27FC236}">
                <a16:creationId xmlns:a16="http://schemas.microsoft.com/office/drawing/2014/main" id="{C057E582-1514-A263-ED8E-C0F864DB539D}"/>
              </a:ext>
            </a:extLst>
          </p:cNvPr>
          <p:cNvSpPr txBox="1"/>
          <p:nvPr/>
        </p:nvSpPr>
        <p:spPr>
          <a:xfrm>
            <a:off x="6972675"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API &amp; Deployment</a:t>
            </a:r>
            <a:endParaRPr lang="en-US" sz="1500" dirty="0"/>
          </a:p>
        </p:txBody>
      </p:sp>
      <p:sp>
        <p:nvSpPr>
          <p:cNvPr id="4" name="TextBox 3">
            <a:extLst>
              <a:ext uri="{FF2B5EF4-FFF2-40B4-BE49-F238E27FC236}">
                <a16:creationId xmlns:a16="http://schemas.microsoft.com/office/drawing/2014/main" id="{7D418163-3765-6391-12E8-8ADCDAEA35E0}"/>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255996" y="1271219"/>
            <a:ext cx="10624338" cy="4142989"/>
          </a:xfrm>
        </p:spPr>
        <p:txBody>
          <a:bodyPr/>
          <a:lstStyle/>
          <a:p>
            <a:pPr lvl="0" algn="just"/>
            <a:r>
              <a:rPr lang="en-IN" sz="2400" b="0" dirty="0">
                <a:solidFill>
                  <a:schemeClr val="tx1"/>
                </a:solidFill>
                <a:latin typeface="+mn-lt"/>
              </a:rPr>
              <a:t>AST-aware chunking — parse each file's syntax tree (Python ast, tree-sitter for JS/TS/Java/HTML/CSS, cell-by-cell for notebooks) and emit one chunk per function/class/method, instead of splitting by fixed character windows — preserves semantic boundaries so no chunk cuts a function in half.</a:t>
            </a:r>
          </a:p>
          <a:p>
            <a:pPr lvl="0" algn="just"/>
            <a:r>
              <a:rPr lang="en-IN" sz="2400" b="0" dirty="0">
                <a:solidFill>
                  <a:schemeClr val="tx1"/>
                </a:solidFill>
                <a:latin typeface="+mn-lt"/>
              </a:rPr>
              <a:t>Hybrid retrieval with Reciprocal Rank Fusion — dense vector search (Chroma + sentence-transformer embeddings) for conceptual/paraphrased queries, combined with sparse full-text search (Postgres tsvector/GIN) for exact identifiers and error strings; fused by rank position (Σ 1/(k+rank)) rather than normalizing incomparable similarity scores.</a:t>
            </a:r>
          </a:p>
          <a:p>
            <a:pPr lvl="0" algn="just"/>
            <a:r>
              <a:rPr lang="en-IN" sz="2400" b="0" dirty="0">
                <a:solidFill>
                  <a:schemeClr val="tx1"/>
                </a:solidFill>
                <a:latin typeface="+mn-lt"/>
              </a:rPr>
              <a:t>Agentic generation pipeline (</a:t>
            </a:r>
            <a:r>
              <a:rPr lang="en-IN" sz="2400" b="0" dirty="0" err="1">
                <a:solidFill>
                  <a:schemeClr val="tx1"/>
                </a:solidFill>
                <a:latin typeface="+mn-lt"/>
              </a:rPr>
              <a:t>LangGraph</a:t>
            </a:r>
            <a:r>
              <a:rPr lang="en-IN" sz="2400" b="0" dirty="0">
                <a:solidFill>
                  <a:schemeClr val="tx1"/>
                </a:solidFill>
                <a:latin typeface="+mn-lt"/>
              </a:rPr>
              <a:t>) — triage → retrieve → generate → verify, where the verify step checks for hallucinated citations or empty answers and triggers one retry with a broadened query before surfacing the result, rather than a single-shot retrieve-then-generate call.</a:t>
            </a:r>
          </a:p>
          <a:p>
            <a:pPr marL="0" indent="0" algn="just">
              <a:lnSpc>
                <a:spcPct val="150000"/>
              </a:lnSpc>
              <a:buNone/>
            </a:pPr>
            <a:endParaRPr lang="en-US" sz="2400" b="0" dirty="0">
              <a:solidFill>
                <a:schemeClr val="tx1"/>
              </a:solidFill>
              <a:latin typeface="+mn-lt"/>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9" name="Picture 6" descr="LTM Limited (Formerly LTIMindtree Limited)">
            <a:extLst>
              <a:ext uri="{FF2B5EF4-FFF2-40B4-BE49-F238E27FC236}">
                <a16:creationId xmlns:a16="http://schemas.microsoft.com/office/drawing/2014/main" id="{8B59335C-7FB8-2739-7EDE-EE26880359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84AC5711-87C7-FC64-47CF-A444E344DDB7}"/>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3" name="Picture 6" descr="LTM Limited (Formerly LTIMindtree Limited)">
            <a:extLst>
              <a:ext uri="{FF2B5EF4-FFF2-40B4-BE49-F238E27FC236}">
                <a16:creationId xmlns:a16="http://schemas.microsoft.com/office/drawing/2014/main" id="{F0E4758D-E98F-3A74-255E-88ADEFE51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5048"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E342B-70A3-79C6-C72C-36896C600D8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B005C9B-65D4-D083-3CBA-CC958A8B3484}"/>
              </a:ext>
            </a:extLst>
          </p:cNvPr>
          <p:cNvSpPr>
            <a:spLocks noGrp="1"/>
          </p:cNvSpPr>
          <p:nvPr>
            <p:ph type="body" sz="quarter" idx="13"/>
          </p:nvPr>
        </p:nvSpPr>
        <p:spPr>
          <a:xfrm>
            <a:off x="255996" y="1594385"/>
            <a:ext cx="11241460" cy="3819823"/>
          </a:xfrm>
        </p:spPr>
        <p:txBody>
          <a:bodyPr/>
          <a:lstStyle/>
          <a:p>
            <a:pPr lvl="0" algn="just"/>
            <a:r>
              <a:rPr lang="en-IN" sz="2400" b="0" dirty="0">
                <a:solidFill>
                  <a:schemeClr val="tx1"/>
                </a:solidFill>
                <a:latin typeface="+mn-lt"/>
              </a:rPr>
              <a:t>Backend &amp; API — Python, </a:t>
            </a:r>
            <a:r>
              <a:rPr lang="en-IN" sz="2400" b="0" dirty="0" err="1">
                <a:solidFill>
                  <a:schemeClr val="tx1"/>
                </a:solidFill>
                <a:latin typeface="+mn-lt"/>
              </a:rPr>
              <a:t>FastAPI</a:t>
            </a:r>
            <a:r>
              <a:rPr lang="en-IN" sz="2400" b="0" dirty="0">
                <a:solidFill>
                  <a:schemeClr val="tx1"/>
                </a:solidFill>
                <a:latin typeface="+mn-lt"/>
              </a:rPr>
              <a:t> (REST API), </a:t>
            </a:r>
            <a:r>
              <a:rPr lang="en-IN" sz="2400" b="0" dirty="0" err="1">
                <a:solidFill>
                  <a:schemeClr val="tx1"/>
                </a:solidFill>
                <a:latin typeface="+mn-lt"/>
              </a:rPr>
              <a:t>Pydantic</a:t>
            </a:r>
            <a:r>
              <a:rPr lang="en-IN" sz="2400" b="0" dirty="0">
                <a:solidFill>
                  <a:schemeClr val="tx1"/>
                </a:solidFill>
                <a:latin typeface="+mn-lt"/>
              </a:rPr>
              <a:t> (request/response validation), JWT (</a:t>
            </a:r>
            <a:r>
              <a:rPr lang="en-IN" sz="2400" b="0" dirty="0" err="1">
                <a:solidFill>
                  <a:schemeClr val="tx1"/>
                </a:solidFill>
                <a:latin typeface="+mn-lt"/>
              </a:rPr>
              <a:t>PyJWT</a:t>
            </a:r>
            <a:r>
              <a:rPr lang="en-IN" sz="2400" b="0" dirty="0">
                <a:solidFill>
                  <a:schemeClr val="tx1"/>
                </a:solidFill>
                <a:latin typeface="+mn-lt"/>
              </a:rPr>
              <a:t>) for auth tokens.</a:t>
            </a:r>
          </a:p>
          <a:p>
            <a:pPr lvl="0" algn="just"/>
            <a:r>
              <a:rPr lang="en-IN" sz="2400" b="0" dirty="0">
                <a:solidFill>
                  <a:schemeClr val="tx1"/>
                </a:solidFill>
                <a:latin typeface="+mn-lt"/>
              </a:rPr>
              <a:t>RAG &amp; AI pipeline — </a:t>
            </a:r>
            <a:r>
              <a:rPr lang="en-IN" sz="2400" b="0" dirty="0" err="1">
                <a:solidFill>
                  <a:schemeClr val="tx1"/>
                </a:solidFill>
                <a:latin typeface="+mn-lt"/>
              </a:rPr>
              <a:t>LangGraph</a:t>
            </a:r>
            <a:r>
              <a:rPr lang="en-IN" sz="2400" b="0" dirty="0">
                <a:solidFill>
                  <a:schemeClr val="tx1"/>
                </a:solidFill>
                <a:latin typeface="+mn-lt"/>
              </a:rPr>
              <a:t> (agentic </a:t>
            </a:r>
            <a:r>
              <a:rPr lang="en-IN" sz="2400" b="0" dirty="0" err="1">
                <a:solidFill>
                  <a:schemeClr val="tx1"/>
                </a:solidFill>
                <a:latin typeface="+mn-lt"/>
              </a:rPr>
              <a:t>triage→retrieve→generate→verify</a:t>
            </a:r>
            <a:r>
              <a:rPr lang="en-IN" sz="2400" b="0" dirty="0">
                <a:solidFill>
                  <a:schemeClr val="tx1"/>
                </a:solidFill>
                <a:latin typeface="+mn-lt"/>
              </a:rPr>
              <a:t> graph), </a:t>
            </a:r>
            <a:r>
              <a:rPr lang="en-IN" sz="2400" b="0" dirty="0" err="1">
                <a:solidFill>
                  <a:schemeClr val="tx1"/>
                </a:solidFill>
                <a:latin typeface="+mn-lt"/>
              </a:rPr>
              <a:t>Groq</a:t>
            </a:r>
            <a:r>
              <a:rPr lang="en-IN" sz="2400" b="0" dirty="0">
                <a:solidFill>
                  <a:schemeClr val="tx1"/>
                </a:solidFill>
                <a:latin typeface="+mn-lt"/>
              </a:rPr>
              <a:t> (LLM inference), </a:t>
            </a:r>
            <a:r>
              <a:rPr lang="en-IN" sz="2400" b="0" dirty="0" err="1">
                <a:solidFill>
                  <a:schemeClr val="tx1"/>
                </a:solidFill>
                <a:latin typeface="+mn-lt"/>
              </a:rPr>
              <a:t>ChromaDB</a:t>
            </a:r>
            <a:r>
              <a:rPr lang="en-IN" sz="2400" b="0" dirty="0">
                <a:solidFill>
                  <a:schemeClr val="tx1"/>
                </a:solidFill>
                <a:latin typeface="+mn-lt"/>
              </a:rPr>
              <a:t> (vector store), sentence-transformers (embeddings), tree-sitter + Python ast (AST-based code chunking).</a:t>
            </a:r>
          </a:p>
          <a:p>
            <a:pPr lvl="0" algn="just"/>
            <a:r>
              <a:rPr lang="en-IN" sz="2400" b="0" dirty="0">
                <a:solidFill>
                  <a:schemeClr val="tx1"/>
                </a:solidFill>
                <a:latin typeface="+mn-lt"/>
              </a:rPr>
              <a:t>Data &amp; infrastructure — PostgreSQL (users, history, full-text search via tsvector), Redis + RQ (background job queue for ingestion), psycopg2 (DB driver).</a:t>
            </a:r>
          </a:p>
          <a:p>
            <a:pPr lvl="0" algn="just"/>
            <a:r>
              <a:rPr lang="en-IN" sz="2400" b="0" dirty="0">
                <a:solidFill>
                  <a:schemeClr val="tx1"/>
                </a:solidFill>
                <a:latin typeface="+mn-lt"/>
              </a:rPr>
              <a:t>Auth &amp; integrations — GitHub OAuth, Google OAuth, Stripe (billing/credits), SMTP (email verification).</a:t>
            </a:r>
          </a:p>
          <a:p>
            <a:pPr lvl="0" algn="just"/>
            <a:r>
              <a:rPr lang="en-IN" sz="2400" b="0" dirty="0">
                <a:solidFill>
                  <a:schemeClr val="tx1"/>
                </a:solidFill>
                <a:latin typeface="+mn-lt"/>
              </a:rPr>
              <a:t>Frontend — React, Vite.</a:t>
            </a:r>
          </a:p>
          <a:p>
            <a:pPr lvl="0" algn="just"/>
            <a:endParaRPr lang="en-US" sz="2400" b="0" dirty="0">
              <a:solidFill>
                <a:schemeClr val="tx1"/>
              </a:solidFill>
              <a:latin typeface="+mn-lt"/>
            </a:endParaRPr>
          </a:p>
        </p:txBody>
      </p:sp>
      <p:sp>
        <p:nvSpPr>
          <p:cNvPr id="3" name="TextBox 2">
            <a:extLst>
              <a:ext uri="{FF2B5EF4-FFF2-40B4-BE49-F238E27FC236}">
                <a16:creationId xmlns:a16="http://schemas.microsoft.com/office/drawing/2014/main" id="{D39CF1FB-CA2C-2456-EBF1-F6E4B7141438}"/>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Tools Used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C3EB2A94-C501-B9EA-F38B-46EC29FC2C8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F99A3B-FF78-FE7D-0330-0BAC09FEFEB0}"/>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9" name="Picture 6" descr="LTM Limited (Formerly LTIMindtree Limited)">
            <a:extLst>
              <a:ext uri="{FF2B5EF4-FFF2-40B4-BE49-F238E27FC236}">
                <a16:creationId xmlns:a16="http://schemas.microsoft.com/office/drawing/2014/main" id="{53047FAE-2851-336E-5721-CDF0AF3DA2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D02B7A5E-C1E1-DE23-BB7B-6067B7DEB35F}"/>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3" name="Picture 6" descr="LTM Limited (Formerly LTIMindtree Limited)">
            <a:extLst>
              <a:ext uri="{FF2B5EF4-FFF2-40B4-BE49-F238E27FC236}">
                <a16:creationId xmlns:a16="http://schemas.microsoft.com/office/drawing/2014/main" id="{A17E726E-2F03-5130-0F75-36712FB0F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5048"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256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91651-AED3-DA29-4CC0-1F583B9FBF3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58DFB7A-BAAA-DE3E-B275-4661DB89D06A}"/>
              </a:ext>
            </a:extLst>
          </p:cNvPr>
          <p:cNvPicPr>
            <a:picLocks noChangeAspect="1"/>
          </p:cNvPicPr>
          <p:nvPr/>
        </p:nvPicPr>
        <p:blipFill>
          <a:blip r:embed="rId2"/>
          <a:srcRect t="12818"/>
          <a:stretch>
            <a:fillRect/>
          </a:stretch>
        </p:blipFill>
        <p:spPr>
          <a:xfrm>
            <a:off x="343484" y="1034237"/>
            <a:ext cx="11500817" cy="5070949"/>
          </a:xfrm>
          <a:prstGeom prst="rect">
            <a:avLst/>
          </a:prstGeom>
        </p:spPr>
      </p:pic>
      <p:sp>
        <p:nvSpPr>
          <p:cNvPr id="3" name="TextBox 2">
            <a:extLst>
              <a:ext uri="{FF2B5EF4-FFF2-40B4-BE49-F238E27FC236}">
                <a16:creationId xmlns:a16="http://schemas.microsoft.com/office/drawing/2014/main" id="{2FD49296-882F-89D2-8DB0-89E2088A3A43}"/>
              </a:ext>
            </a:extLst>
          </p:cNvPr>
          <p:cNvSpPr txBox="1"/>
          <p:nvPr/>
        </p:nvSpPr>
        <p:spPr>
          <a:xfrm>
            <a:off x="321390" y="327044"/>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Project plan/</a:t>
            </a:r>
            <a:r>
              <a:rPr lang="fr-FR" sz="3600" b="1" dirty="0" err="1">
                <a:solidFill>
                  <a:srgbClr val="5B9BD5">
                    <a:lumMod val="50000"/>
                  </a:srgbClr>
                </a:solidFill>
              </a:rPr>
              <a:t>milestones</a:t>
            </a:r>
            <a:r>
              <a:rPr lang="fr-FR" sz="3600" b="1" dirty="0">
                <a:solidFill>
                  <a:srgbClr val="5B9BD5">
                    <a:lumMod val="50000"/>
                  </a:srgbClr>
                </a:solidFill>
              </a:rPr>
              <a:t> </a:t>
            </a:r>
            <a:r>
              <a:rPr lang="fr-FR" sz="3600" b="1" dirty="0" err="1">
                <a:solidFill>
                  <a:srgbClr val="5B9BD5">
                    <a:lumMod val="50000"/>
                  </a:srgbClr>
                </a:solidFill>
              </a:rPr>
              <a:t>progress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4DD9835-2D15-FA63-BFE8-32E45208D18D}"/>
              </a:ext>
            </a:extLst>
          </p:cNvPr>
          <p:cNvCxnSpPr>
            <a:cxnSpLocks/>
          </p:cNvCxnSpPr>
          <p:nvPr/>
        </p:nvCxnSpPr>
        <p:spPr>
          <a:xfrm>
            <a:off x="139218" y="973375"/>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2535597-B8DF-D133-F159-4E92E6F2B6F6}"/>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9" name="Picture 6" descr="LTM Limited (Formerly LTIMindtree Limited)">
            <a:extLst>
              <a:ext uri="{FF2B5EF4-FFF2-40B4-BE49-F238E27FC236}">
                <a16:creationId xmlns:a16="http://schemas.microsoft.com/office/drawing/2014/main" id="{11F42324-0A39-77CC-FA61-3317B72A86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753E254E-882C-36DF-806B-C0E965CBA9B5}"/>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3" name="Picture 6" descr="LTM Limited (Formerly LTIMindtree Limited)">
            <a:extLst>
              <a:ext uri="{FF2B5EF4-FFF2-40B4-BE49-F238E27FC236}">
                <a16:creationId xmlns:a16="http://schemas.microsoft.com/office/drawing/2014/main" id="{6FAF8BAE-6E16-25C7-9D28-AD77317B63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5048"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4851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83574-45FB-9A2A-3441-33B3E0DCFF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14F7009-8156-B5DD-ADC9-6648E8ECA60D}"/>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Pipeline structure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207EAD83-FEA1-D047-5D8C-5BAD29CBB19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E9CF5D9-D6A9-E28A-5645-985E8F187D9E}"/>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9" name="Picture 6" descr="LTM Limited (Formerly LTIMindtree Limited)">
            <a:extLst>
              <a:ext uri="{FF2B5EF4-FFF2-40B4-BE49-F238E27FC236}">
                <a16:creationId xmlns:a16="http://schemas.microsoft.com/office/drawing/2014/main" id="{A22E7E74-718D-CED5-40AB-C50658002A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A3C3FD75-893E-C806-A106-D7B4BE362EBD}"/>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3" name="Picture 6" descr="LTM Limited (Formerly LTIMindtree Limited)">
            <a:extLst>
              <a:ext uri="{FF2B5EF4-FFF2-40B4-BE49-F238E27FC236}">
                <a16:creationId xmlns:a16="http://schemas.microsoft.com/office/drawing/2014/main" id="{6B123CB4-CC15-48E9-8B6F-6E441CB24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5048" y="6611556"/>
            <a:ext cx="705207" cy="18558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DC17EA6-FCBD-738E-8F52-779B2E994686}"/>
              </a:ext>
            </a:extLst>
          </p:cNvPr>
          <p:cNvPicPr>
            <a:picLocks noChangeAspect="1"/>
          </p:cNvPicPr>
          <p:nvPr/>
        </p:nvPicPr>
        <p:blipFill>
          <a:blip r:embed="rId3">
            <a:extLst>
              <a:ext uri="{28A0092B-C50C-407E-A947-70E740481C1C}">
                <a14:useLocalDpi xmlns:a14="http://schemas.microsoft.com/office/drawing/2010/main" val="0"/>
              </a:ext>
            </a:extLst>
          </a:blip>
          <a:srcRect t="17612" r="8647" b="9519"/>
          <a:stretch>
            <a:fillRect/>
          </a:stretch>
        </p:blipFill>
        <p:spPr>
          <a:xfrm>
            <a:off x="525047" y="1594384"/>
            <a:ext cx="11137692" cy="4176825"/>
          </a:xfrm>
          <a:prstGeom prst="rect">
            <a:avLst/>
          </a:prstGeom>
        </p:spPr>
      </p:pic>
    </p:spTree>
    <p:extLst>
      <p:ext uri="{BB962C8B-B14F-4D97-AF65-F5344CB8AC3E}">
        <p14:creationId xmlns:p14="http://schemas.microsoft.com/office/powerpoint/2010/main" val="2478772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2A547-BE2A-80CC-E8E3-BD8FFB3D8FC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F6DC34E-3213-5B0E-3059-A80A62AC6427}"/>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347D5CCF-AF86-DA46-A046-2CAC56459783}"/>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686A0BFF-7472-A63E-481B-AA4EC519773A}"/>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E3011E2E-B88C-B6D4-2B1A-44FC0687086B}"/>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BA270E1F-ED9F-4CF5-39EF-939265037266}"/>
              </a:ext>
            </a:extLst>
          </p:cNvPr>
          <p:cNvSpPr txBox="1"/>
          <p:nvPr/>
        </p:nvSpPr>
        <p:spPr>
          <a:xfrm>
            <a:off x="334616" y="1542814"/>
            <a:ext cx="11428184" cy="5909310"/>
          </a:xfrm>
          <a:prstGeom prst="rect">
            <a:avLst/>
          </a:prstGeom>
          <a:noFill/>
        </p:spPr>
        <p:txBody>
          <a:bodyPr wrap="square">
            <a:spAutoFit/>
          </a:bodyPr>
          <a:lstStyle/>
          <a:p>
            <a:pPr algn="ctr">
              <a:defRPr/>
            </a:pPr>
            <a:r>
              <a:rPr lang="en-US" sz="3600" b="1" dirty="0">
                <a:solidFill>
                  <a:prstClr val="white"/>
                </a:solidFill>
                <a:cs typeface="Calibri" panose="020F0502020204030204" pitchFamily="34" charset="0"/>
              </a:rPr>
              <a:t>Review II</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1" dirty="0">
              <a:solidFill>
                <a:prstClr val="white"/>
              </a:solidFill>
              <a:cs typeface="Calibri" panose="020F0502020204030204" pitchFamily="34" charset="0"/>
            </a:endParaRPr>
          </a:p>
          <a:p>
            <a:pPr algn="ctr">
              <a:defRPr/>
            </a:pPr>
            <a:r>
              <a:rPr lang="en-US" sz="3600" b="1" dirty="0">
                <a:solidFill>
                  <a:schemeClr val="bg1"/>
                </a:solidFill>
                <a:cs typeface="Arial" panose="020B0604020202020204" pitchFamily="34" charset="0"/>
              </a:rPr>
              <a:t>WYFE: A Multimodal Personal Agent for Scheduling notes and Messaging</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SAIKRISHNAN P</a:t>
            </a:r>
          </a:p>
          <a:p>
            <a:pPr algn="ctr">
              <a:defRPr/>
            </a:pPr>
            <a:r>
              <a:rPr lang="en-US" sz="2400" b="1" dirty="0">
                <a:solidFill>
                  <a:prstClr val="white"/>
                </a:solidFill>
                <a:cs typeface="Calibri" panose="020F0502020204030204" pitchFamily="34" charset="0"/>
              </a:rPr>
              <a:t>CRESCENT 2025-27</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C8026A0-6D01-7823-C5C9-094750841683}"/>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33D4AA63-8611-FBEE-2605-374EC878962D}"/>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7" name="Picture 6">
            <a:extLst>
              <a:ext uri="{FF2B5EF4-FFF2-40B4-BE49-F238E27FC236}">
                <a16:creationId xmlns:a16="http://schemas.microsoft.com/office/drawing/2014/main" id="{485709E7-C643-B5C7-DD97-96331C98F3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453" y="5340187"/>
            <a:ext cx="5181827" cy="1872376"/>
          </a:xfrm>
          <a:prstGeom prst="rect">
            <a:avLst/>
          </a:prstGeom>
        </p:spPr>
      </p:pic>
    </p:spTree>
    <p:extLst>
      <p:ext uri="{BB962C8B-B14F-4D97-AF65-F5344CB8AC3E}">
        <p14:creationId xmlns:p14="http://schemas.microsoft.com/office/powerpoint/2010/main" val="2865658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AC8A3-C7E9-25AA-40CA-EDA14A815E5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C9028E8-72BD-78E4-A175-3D8EDB8830D1}"/>
              </a:ext>
            </a:extLst>
          </p:cNvPr>
          <p:cNvSpPr>
            <a:spLocks noGrp="1"/>
          </p:cNvSpPr>
          <p:nvPr>
            <p:ph type="body" sz="quarter" idx="13"/>
          </p:nvPr>
        </p:nvSpPr>
        <p:spPr>
          <a:xfrm>
            <a:off x="392546" y="1651421"/>
            <a:ext cx="10910038" cy="5900674"/>
          </a:xfrm>
        </p:spPr>
        <p:txBody>
          <a:bodyPr/>
          <a:lstStyle/>
          <a:p>
            <a:pPr lvl="0" algn="just"/>
            <a:r>
              <a:rPr lang="en-IN" sz="2400" b="0" dirty="0">
                <a:solidFill>
                  <a:schemeClr val="tx1"/>
                </a:solidFill>
                <a:latin typeface="+mn-lt"/>
              </a:rPr>
              <a:t>What it is: Aria is an agentic AI assistant that lives inside WhatsApp and helps you set, manage, and receive reminders through ordinary chat messages.</a:t>
            </a:r>
          </a:p>
          <a:p>
            <a:pPr lvl="0" algn="just"/>
            <a:r>
              <a:rPr lang="en-IN" sz="2400" b="0" dirty="0">
                <a:solidFill>
                  <a:schemeClr val="tx1"/>
                </a:solidFill>
                <a:latin typeface="+mn-lt"/>
              </a:rPr>
              <a:t>How you use it: You message it in natural language, like "remind me to call the bank tomorrow at 10 AM," and it works out the task, time, and intent without forms or menus.</a:t>
            </a:r>
          </a:p>
          <a:p>
            <a:pPr lvl="0" algn="just"/>
            <a:r>
              <a:rPr lang="en-IN" sz="2400" b="0" dirty="0">
                <a:solidFill>
                  <a:schemeClr val="tx1"/>
                </a:solidFill>
                <a:latin typeface="+mn-lt"/>
              </a:rPr>
              <a:t>What makes it agentic: Instead of just replying, Aria acts on its own. It understands the request, schedules the reminder, and sends a nudge at the right time.</a:t>
            </a:r>
          </a:p>
          <a:p>
            <a:pPr lvl="0" algn="just"/>
            <a:r>
              <a:rPr lang="en-IN" sz="2400" b="0" dirty="0">
                <a:solidFill>
                  <a:schemeClr val="tx1"/>
                </a:solidFill>
                <a:latin typeface="+mn-lt"/>
              </a:rPr>
              <a:t>Why it matters: WhatsApp is already where people spend their day, so reminders arrive in a familiar place with no extra app to install.</a:t>
            </a:r>
          </a:p>
          <a:p>
            <a:pPr algn="just">
              <a:spcAft>
                <a:spcPts val="1600"/>
              </a:spcAft>
              <a:buSzPct val="100000"/>
            </a:pPr>
            <a:endParaRPr lang="en-IN" sz="2400" b="0" dirty="0">
              <a:solidFill>
                <a:schemeClr val="tx1"/>
              </a:solidFill>
              <a:latin typeface="+mn-lt"/>
            </a:endParaRPr>
          </a:p>
        </p:txBody>
      </p:sp>
      <p:sp>
        <p:nvSpPr>
          <p:cNvPr id="3" name="TextBox 2">
            <a:extLst>
              <a:ext uri="{FF2B5EF4-FFF2-40B4-BE49-F238E27FC236}">
                <a16:creationId xmlns:a16="http://schemas.microsoft.com/office/drawing/2014/main" id="{9E53EFEC-0767-45E7-F988-392D98B75764}"/>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EB3700CF-0934-EF37-8EE0-291CB67068F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4A141D1-31E4-C5A8-6E25-019D0336A086}"/>
              </a:ext>
            </a:extLst>
          </p:cNvPr>
          <p:cNvSpPr txBox="1"/>
          <p:nvPr/>
        </p:nvSpPr>
        <p:spPr>
          <a:xfrm>
            <a:off x="3387776" y="0"/>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
        <p:nvSpPr>
          <p:cNvPr id="6" name="Rectangle 5">
            <a:extLst>
              <a:ext uri="{FF2B5EF4-FFF2-40B4-BE49-F238E27FC236}">
                <a16:creationId xmlns:a16="http://schemas.microsoft.com/office/drawing/2014/main" id="{D587A8E5-1799-0782-3440-97D99B0C63E2}"/>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7" name="Picture 6" descr="LTM Limited (Formerly LTIMindtree Limited)">
            <a:extLst>
              <a:ext uri="{FF2B5EF4-FFF2-40B4-BE49-F238E27FC236}">
                <a16:creationId xmlns:a16="http://schemas.microsoft.com/office/drawing/2014/main" id="{B471DF6C-4702-3D09-248C-B0056DDF67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0525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96C5F-C46F-9A21-D414-82DCEC1503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57A5688-005C-38A3-2B21-942310082BB2}"/>
              </a:ext>
            </a:extLst>
          </p:cNvPr>
          <p:cNvSpPr>
            <a:spLocks noGrp="1"/>
          </p:cNvSpPr>
          <p:nvPr>
            <p:ph type="body" sz="quarter" idx="13"/>
          </p:nvPr>
        </p:nvSpPr>
        <p:spPr>
          <a:xfrm>
            <a:off x="255995" y="1271219"/>
            <a:ext cx="10956647" cy="4142989"/>
          </a:xfrm>
        </p:spPr>
        <p:txBody>
          <a:bodyPr/>
          <a:lstStyle/>
          <a:p>
            <a:pPr algn="just"/>
            <a:r>
              <a:rPr lang="en-IN" sz="2400" b="0" dirty="0">
                <a:solidFill>
                  <a:schemeClr val="tx1"/>
                </a:solidFill>
                <a:latin typeface="+mn-lt"/>
              </a:rPr>
              <a:t>The main objective of Aria is to build an agentic AI assistant that manages reminders through natural WhatsApp conversation, with no extra app or manual scheduling.</a:t>
            </a:r>
          </a:p>
          <a:p>
            <a:pPr lvl="0" algn="just"/>
            <a:r>
              <a:rPr lang="en-IN" sz="2400" b="0" dirty="0">
                <a:solidFill>
                  <a:schemeClr val="tx1"/>
                </a:solidFill>
                <a:latin typeface="+mn-lt"/>
              </a:rPr>
              <a:t>Understand natural language: Interpret messages like "remind me to submit the report on Friday evening" and extract the task, date, and time accurately.</a:t>
            </a:r>
          </a:p>
          <a:p>
            <a:pPr lvl="0" algn="just"/>
            <a:r>
              <a:rPr lang="en-IN" sz="2400" b="0" dirty="0">
                <a:solidFill>
                  <a:schemeClr val="tx1"/>
                </a:solidFill>
                <a:latin typeface="+mn-lt"/>
              </a:rPr>
              <a:t>Act autonomously: Create, schedule, update, and cancel reminders on its own, using tools instead of only generating replies.</a:t>
            </a:r>
          </a:p>
          <a:p>
            <a:pPr lvl="0" algn="just"/>
            <a:r>
              <a:rPr lang="en-IN" sz="2400" b="0" dirty="0">
                <a:solidFill>
                  <a:schemeClr val="tx1"/>
                </a:solidFill>
                <a:latin typeface="+mn-lt"/>
              </a:rPr>
              <a:t>Deliver on time: Send each reminder through WhatsApp at the right moment, reliably and consistently.</a:t>
            </a:r>
          </a:p>
          <a:p>
            <a:pPr lvl="0" algn="just"/>
            <a:r>
              <a:rPr lang="en-IN" sz="2400" b="0" dirty="0">
                <a:solidFill>
                  <a:schemeClr val="tx1"/>
                </a:solidFill>
                <a:latin typeface="+mn-lt"/>
              </a:rPr>
              <a:t>Stay simple and accessible: Give users a hassle-free way to stay organized on a platform they already use daily.</a:t>
            </a:r>
          </a:p>
          <a:p>
            <a:pPr algn="just">
              <a:spcAft>
                <a:spcPts val="1600"/>
              </a:spcAft>
              <a:buSzPct val="100000"/>
            </a:pPr>
            <a:endParaRPr lang="en-US" sz="2400" b="0" dirty="0">
              <a:solidFill>
                <a:schemeClr val="tx1"/>
              </a:solidFill>
              <a:latin typeface="+mj-lt"/>
            </a:endParaRPr>
          </a:p>
        </p:txBody>
      </p:sp>
      <p:sp>
        <p:nvSpPr>
          <p:cNvPr id="3" name="TextBox 2">
            <a:extLst>
              <a:ext uri="{FF2B5EF4-FFF2-40B4-BE49-F238E27FC236}">
                <a16:creationId xmlns:a16="http://schemas.microsoft.com/office/drawing/2014/main" id="{A27325A3-FDA8-76AB-2002-1CB7F81E687E}"/>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C9EA7B43-84E3-681D-B2ED-E857084C0E6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50C22FA7-A8F9-E0FE-CABD-D550958FBEFA}"/>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9" name="Picture 6" descr="LTM Limited (Formerly LTIMindtree Limited)">
            <a:extLst>
              <a:ext uri="{FF2B5EF4-FFF2-40B4-BE49-F238E27FC236}">
                <a16:creationId xmlns:a16="http://schemas.microsoft.com/office/drawing/2014/main" id="{99C90931-1CB9-6918-9CFC-6B4DB3246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425FBF2-3D42-2805-A632-51DA746D0615}"/>
              </a:ext>
            </a:extLst>
          </p:cNvPr>
          <p:cNvSpPr txBox="1"/>
          <p:nvPr/>
        </p:nvSpPr>
        <p:spPr>
          <a:xfrm>
            <a:off x="3162923" y="-22818"/>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81430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3500-3D15-96DB-6B4B-DD1E7D4D19E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6B7F287-DFB8-0723-77A1-4EFDB4F4C21F}"/>
              </a:ext>
            </a:extLst>
          </p:cNvPr>
          <p:cNvSpPr>
            <a:spLocks noGrp="1"/>
          </p:cNvSpPr>
          <p:nvPr>
            <p:ph type="body" sz="quarter" idx="13"/>
          </p:nvPr>
        </p:nvSpPr>
        <p:spPr>
          <a:xfrm>
            <a:off x="255995" y="1271219"/>
            <a:ext cx="11466095" cy="4919718"/>
          </a:xfrm>
        </p:spPr>
        <p:txBody>
          <a:bodyPr/>
          <a:lstStyle/>
          <a:p>
            <a:pPr lvl="0" algn="just">
              <a:lnSpc>
                <a:spcPct val="100000"/>
              </a:lnSpc>
            </a:pPr>
            <a:r>
              <a:rPr lang="en-IN" sz="2400" b="0" dirty="0">
                <a:solidFill>
                  <a:schemeClr val="tx1"/>
                </a:solidFill>
                <a:latin typeface="+mn-lt"/>
              </a:rPr>
              <a:t>Conversational reminder management: Creating, viewing, editing, and deleting reminders through natural-language WhatsApp messages.</a:t>
            </a:r>
          </a:p>
          <a:p>
            <a:pPr lvl="0" algn="just">
              <a:lnSpc>
                <a:spcPct val="100000"/>
              </a:lnSpc>
            </a:pPr>
            <a:r>
              <a:rPr lang="en-IN" sz="2400" b="0" dirty="0">
                <a:solidFill>
                  <a:schemeClr val="tx1"/>
                </a:solidFill>
                <a:latin typeface="+mn-lt"/>
              </a:rPr>
              <a:t>Intent and detail extraction: Parsing the task, date, time, and basic recurrence (e.g., daily, weekly) from free-form text.</a:t>
            </a:r>
          </a:p>
          <a:p>
            <a:pPr lvl="0" algn="just">
              <a:lnSpc>
                <a:spcPct val="100000"/>
              </a:lnSpc>
            </a:pPr>
            <a:r>
              <a:rPr lang="en-IN" sz="2400" b="0" dirty="0">
                <a:solidFill>
                  <a:schemeClr val="tx1"/>
                </a:solidFill>
                <a:latin typeface="+mn-lt"/>
              </a:rPr>
              <a:t>Agentic task handling: Using an LLM with tools to decide what action to take, ask follow-up questions when details are missing, and confirm back to the user.</a:t>
            </a:r>
          </a:p>
          <a:p>
            <a:pPr lvl="0" algn="just">
              <a:lnSpc>
                <a:spcPct val="100000"/>
              </a:lnSpc>
            </a:pPr>
            <a:r>
              <a:rPr lang="en-IN" sz="2400" b="0" dirty="0">
                <a:solidFill>
                  <a:schemeClr val="tx1"/>
                </a:solidFill>
                <a:latin typeface="+mn-lt"/>
              </a:rPr>
              <a:t>Scheduled delivery: Sending reminders through WhatsApp at the requested time.</a:t>
            </a:r>
          </a:p>
          <a:p>
            <a:pPr lvl="0" algn="just">
              <a:lnSpc>
                <a:spcPct val="100000"/>
              </a:lnSpc>
            </a:pPr>
            <a:r>
              <a:rPr lang="en-IN" sz="2400" b="0" dirty="0">
                <a:solidFill>
                  <a:schemeClr val="tx1"/>
                </a:solidFill>
                <a:latin typeface="+mn-lt"/>
              </a:rPr>
              <a:t>Basic user handling: Identifying users by their WhatsApp number and storing their reminders.</a:t>
            </a:r>
          </a:p>
          <a:p>
            <a:pPr algn="just">
              <a:lnSpc>
                <a:spcPct val="100000"/>
              </a:lnSpc>
              <a:spcAft>
                <a:spcPts val="1600"/>
              </a:spcAft>
              <a:buSzPct val="100000"/>
            </a:pPr>
            <a:endParaRPr lang="en-US" sz="2400" b="0" dirty="0">
              <a:solidFill>
                <a:schemeClr val="tx1"/>
              </a:solidFill>
              <a:latin typeface="+mj-lt"/>
            </a:endParaRPr>
          </a:p>
        </p:txBody>
      </p:sp>
      <p:sp>
        <p:nvSpPr>
          <p:cNvPr id="3" name="TextBox 2">
            <a:extLst>
              <a:ext uri="{FF2B5EF4-FFF2-40B4-BE49-F238E27FC236}">
                <a16:creationId xmlns:a16="http://schemas.microsoft.com/office/drawing/2014/main" id="{0519D120-4828-F095-823B-CE871643029D}"/>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a:t>
            </a:r>
          </a:p>
        </p:txBody>
      </p:sp>
      <p:cxnSp>
        <p:nvCxnSpPr>
          <p:cNvPr id="5" name="Straight Connector 4">
            <a:extLst>
              <a:ext uri="{FF2B5EF4-FFF2-40B4-BE49-F238E27FC236}">
                <a16:creationId xmlns:a16="http://schemas.microsoft.com/office/drawing/2014/main" id="{00683669-E890-C597-DC21-98741DEF4D0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AutoShape 2" descr="LTIMindtree Logo">
            <a:extLst>
              <a:ext uri="{FF2B5EF4-FFF2-40B4-BE49-F238E27FC236}">
                <a16:creationId xmlns:a16="http://schemas.microsoft.com/office/drawing/2014/main" id="{E43A3903-70B2-915D-7155-ED4630DCF73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Rectangle 8">
            <a:extLst>
              <a:ext uri="{FF2B5EF4-FFF2-40B4-BE49-F238E27FC236}">
                <a16:creationId xmlns:a16="http://schemas.microsoft.com/office/drawing/2014/main" id="{E98B2F05-D5EE-B809-D437-5326F33F2911}"/>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030" name="Picture 6" descr="LTM Limited (Formerly LTIMindtree Limited)">
            <a:extLst>
              <a:ext uri="{FF2B5EF4-FFF2-40B4-BE49-F238E27FC236}">
                <a16:creationId xmlns:a16="http://schemas.microsoft.com/office/drawing/2014/main" id="{A26E9448-7A30-E140-81E2-65A499600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4E447B4-A2D3-D59F-6167-4803C37697D7}"/>
              </a:ext>
            </a:extLst>
          </p:cNvPr>
          <p:cNvSpPr txBox="1"/>
          <p:nvPr/>
        </p:nvSpPr>
        <p:spPr>
          <a:xfrm>
            <a:off x="3267854" y="-54637"/>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210973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4452A-6844-7BA2-60FF-A8CB31CCFFB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4FFD74-461C-5405-F0DC-5CC5B23DFBE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10961D03-44FF-5D29-D900-FAC1F11BD00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F5E9187-958C-11F5-CED3-D43909450552}"/>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C1AC697C-9A1A-ACD6-37E0-474F388D29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Shape 4">
            <a:extLst>
              <a:ext uri="{FF2B5EF4-FFF2-40B4-BE49-F238E27FC236}">
                <a16:creationId xmlns:a16="http://schemas.microsoft.com/office/drawing/2014/main" id="{34B87736-1626-880C-CF0F-9B7ADA328768}"/>
              </a:ext>
            </a:extLst>
          </p:cNvPr>
          <p:cNvSpPr/>
          <p:nvPr/>
        </p:nvSpPr>
        <p:spPr>
          <a:xfrm>
            <a:off x="512439"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0" name="Shape 5">
            <a:extLst>
              <a:ext uri="{FF2B5EF4-FFF2-40B4-BE49-F238E27FC236}">
                <a16:creationId xmlns:a16="http://schemas.microsoft.com/office/drawing/2014/main" id="{31D0BF9F-B050-B9FB-4873-C0F7FA6DB0CB}"/>
              </a:ext>
            </a:extLst>
          </p:cNvPr>
          <p:cNvSpPr/>
          <p:nvPr/>
        </p:nvSpPr>
        <p:spPr>
          <a:xfrm>
            <a:off x="677031" y="1815245"/>
            <a:ext cx="502920" cy="502920"/>
          </a:xfrm>
          <a:prstGeom prst="ellipse">
            <a:avLst/>
          </a:prstGeom>
          <a:solidFill>
            <a:srgbClr val="1E2761"/>
          </a:solidFill>
          <a:ln/>
        </p:spPr>
        <p:txBody>
          <a:bodyPr/>
          <a:lstStyle/>
          <a:p>
            <a:endParaRPr lang="en-IN"/>
          </a:p>
        </p:txBody>
      </p:sp>
      <p:sp>
        <p:nvSpPr>
          <p:cNvPr id="11" name="Text 6">
            <a:extLst>
              <a:ext uri="{FF2B5EF4-FFF2-40B4-BE49-F238E27FC236}">
                <a16:creationId xmlns:a16="http://schemas.microsoft.com/office/drawing/2014/main" id="{4DCC1FC8-57C5-BC1C-B671-0C2FD0909F42}"/>
              </a:ext>
            </a:extLst>
          </p:cNvPr>
          <p:cNvSpPr txBox="1"/>
          <p:nvPr/>
        </p:nvSpPr>
        <p:spPr>
          <a:xfrm>
            <a:off x="677031"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1</a:t>
            </a:r>
            <a:endParaRPr lang="en-US" sz="1870" dirty="0"/>
          </a:p>
        </p:txBody>
      </p:sp>
      <p:sp>
        <p:nvSpPr>
          <p:cNvPr id="12" name="Text 7">
            <a:extLst>
              <a:ext uri="{FF2B5EF4-FFF2-40B4-BE49-F238E27FC236}">
                <a16:creationId xmlns:a16="http://schemas.microsoft.com/office/drawing/2014/main" id="{80501D44-BC5E-6C28-5FBA-D49F5BEB1D7D}"/>
              </a:ext>
            </a:extLst>
          </p:cNvPr>
          <p:cNvSpPr txBox="1"/>
          <p:nvPr/>
        </p:nvSpPr>
        <p:spPr>
          <a:xfrm>
            <a:off x="1335399" y="1554641"/>
            <a:ext cx="4311396" cy="1024128"/>
          </a:xfrm>
          <a:prstGeom prst="rect">
            <a:avLst/>
          </a:prstGeom>
          <a:noFill/>
          <a:ln/>
        </p:spPr>
        <p:txBody>
          <a:bodyPr wrap="square" lIns="0" tIns="0" rIns="0" bIns="0" rtlCol="0" anchor="ctr"/>
          <a:lstStyle/>
          <a:p>
            <a:r>
              <a:rPr lang="en-US" sz="1500" b="1" dirty="0" err="1">
                <a:solidFill>
                  <a:srgbClr val="2A2E43"/>
                </a:solidFill>
                <a:latin typeface="Calibri" pitchFamily="34" charset="0"/>
                <a:ea typeface="Calibri" pitchFamily="34" charset="-122"/>
                <a:cs typeface="Calibri" pitchFamily="34" charset="-120"/>
              </a:rPr>
              <a:t>Whatsapp</a:t>
            </a:r>
            <a:r>
              <a:rPr lang="en-US" sz="1500" b="1" dirty="0">
                <a:solidFill>
                  <a:srgbClr val="2A2E43"/>
                </a:solidFill>
                <a:latin typeface="Calibri" pitchFamily="34" charset="0"/>
                <a:ea typeface="Calibri" pitchFamily="34" charset="-122"/>
                <a:cs typeface="Calibri" pitchFamily="34" charset="-120"/>
              </a:rPr>
              <a:t> Interface Module</a:t>
            </a:r>
            <a:endParaRPr lang="en-US" sz="1400" dirty="0"/>
          </a:p>
        </p:txBody>
      </p:sp>
      <p:sp>
        <p:nvSpPr>
          <p:cNvPr id="13" name="Shape 8">
            <a:extLst>
              <a:ext uri="{FF2B5EF4-FFF2-40B4-BE49-F238E27FC236}">
                <a16:creationId xmlns:a16="http://schemas.microsoft.com/office/drawing/2014/main" id="{E7955747-20C9-931B-36EF-D447A2552B60}"/>
              </a:ext>
            </a:extLst>
          </p:cNvPr>
          <p:cNvSpPr/>
          <p:nvPr/>
        </p:nvSpPr>
        <p:spPr>
          <a:xfrm>
            <a:off x="6149715"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4" name="Shape 9">
            <a:extLst>
              <a:ext uri="{FF2B5EF4-FFF2-40B4-BE49-F238E27FC236}">
                <a16:creationId xmlns:a16="http://schemas.microsoft.com/office/drawing/2014/main" id="{D173CDA3-2D4F-D24B-BBD3-96DC1909376F}"/>
              </a:ext>
            </a:extLst>
          </p:cNvPr>
          <p:cNvSpPr/>
          <p:nvPr/>
        </p:nvSpPr>
        <p:spPr>
          <a:xfrm>
            <a:off x="6314307" y="1815245"/>
            <a:ext cx="502920" cy="502920"/>
          </a:xfrm>
          <a:prstGeom prst="ellipse">
            <a:avLst/>
          </a:prstGeom>
          <a:solidFill>
            <a:srgbClr val="1E2761"/>
          </a:solidFill>
          <a:ln/>
        </p:spPr>
        <p:txBody>
          <a:bodyPr/>
          <a:lstStyle/>
          <a:p>
            <a:endParaRPr lang="en-IN"/>
          </a:p>
        </p:txBody>
      </p:sp>
      <p:sp>
        <p:nvSpPr>
          <p:cNvPr id="15" name="Text 10">
            <a:extLst>
              <a:ext uri="{FF2B5EF4-FFF2-40B4-BE49-F238E27FC236}">
                <a16:creationId xmlns:a16="http://schemas.microsoft.com/office/drawing/2014/main" id="{B42AF078-66EB-7639-8E20-2AF95510E490}"/>
              </a:ext>
            </a:extLst>
          </p:cNvPr>
          <p:cNvSpPr txBox="1"/>
          <p:nvPr/>
        </p:nvSpPr>
        <p:spPr>
          <a:xfrm>
            <a:off x="6314307"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2</a:t>
            </a:r>
            <a:endParaRPr lang="en-US" sz="1870" dirty="0"/>
          </a:p>
        </p:txBody>
      </p:sp>
      <p:sp>
        <p:nvSpPr>
          <p:cNvPr id="16" name="Text 11">
            <a:extLst>
              <a:ext uri="{FF2B5EF4-FFF2-40B4-BE49-F238E27FC236}">
                <a16:creationId xmlns:a16="http://schemas.microsoft.com/office/drawing/2014/main" id="{1A41036C-4A91-BD19-1668-45A3AB3DA2E7}"/>
              </a:ext>
            </a:extLst>
          </p:cNvPr>
          <p:cNvSpPr txBox="1"/>
          <p:nvPr/>
        </p:nvSpPr>
        <p:spPr>
          <a:xfrm>
            <a:off x="6972675" y="1554641"/>
            <a:ext cx="4311396" cy="1024128"/>
          </a:xfrm>
          <a:prstGeom prst="rect">
            <a:avLst/>
          </a:prstGeom>
          <a:noFill/>
          <a:ln/>
        </p:spPr>
        <p:txBody>
          <a:bodyPr wrap="square" lIns="0" tIns="0" rIns="0" bIns="0" rtlCol="0" anchor="ctr"/>
          <a:lstStyle/>
          <a:p>
            <a:r>
              <a:rPr lang="en-US" sz="1500" b="1" dirty="0">
                <a:solidFill>
                  <a:srgbClr val="2A2E43"/>
                </a:solidFill>
                <a:latin typeface="Calibri" pitchFamily="34" charset="0"/>
                <a:ea typeface="Calibri" pitchFamily="34" charset="-122"/>
                <a:cs typeface="Calibri" pitchFamily="34" charset="-120"/>
              </a:rPr>
              <a:t>User Management Module</a:t>
            </a:r>
            <a:endParaRPr lang="en-US" sz="1500" dirty="0"/>
          </a:p>
        </p:txBody>
      </p:sp>
      <p:sp>
        <p:nvSpPr>
          <p:cNvPr id="17" name="Shape 12">
            <a:extLst>
              <a:ext uri="{FF2B5EF4-FFF2-40B4-BE49-F238E27FC236}">
                <a16:creationId xmlns:a16="http://schemas.microsoft.com/office/drawing/2014/main" id="{87E8B17B-6753-0F74-6B6E-413381A9BCFE}"/>
              </a:ext>
            </a:extLst>
          </p:cNvPr>
          <p:cNvSpPr/>
          <p:nvPr/>
        </p:nvSpPr>
        <p:spPr>
          <a:xfrm>
            <a:off x="512439"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8" name="Shape 13">
            <a:extLst>
              <a:ext uri="{FF2B5EF4-FFF2-40B4-BE49-F238E27FC236}">
                <a16:creationId xmlns:a16="http://schemas.microsoft.com/office/drawing/2014/main" id="{FF11D50D-615B-C336-C804-473C30FFD872}"/>
              </a:ext>
            </a:extLst>
          </p:cNvPr>
          <p:cNvSpPr/>
          <p:nvPr/>
        </p:nvSpPr>
        <p:spPr>
          <a:xfrm>
            <a:off x="677031" y="3003965"/>
            <a:ext cx="502920" cy="502920"/>
          </a:xfrm>
          <a:prstGeom prst="ellipse">
            <a:avLst/>
          </a:prstGeom>
          <a:solidFill>
            <a:srgbClr val="1E2761"/>
          </a:solidFill>
          <a:ln/>
        </p:spPr>
        <p:txBody>
          <a:bodyPr/>
          <a:lstStyle/>
          <a:p>
            <a:endParaRPr lang="en-IN"/>
          </a:p>
        </p:txBody>
      </p:sp>
      <p:sp>
        <p:nvSpPr>
          <p:cNvPr id="19" name="Text 14">
            <a:extLst>
              <a:ext uri="{FF2B5EF4-FFF2-40B4-BE49-F238E27FC236}">
                <a16:creationId xmlns:a16="http://schemas.microsoft.com/office/drawing/2014/main" id="{FA43D674-09BF-7C8D-9B7C-335A61440D78}"/>
              </a:ext>
            </a:extLst>
          </p:cNvPr>
          <p:cNvSpPr txBox="1"/>
          <p:nvPr/>
        </p:nvSpPr>
        <p:spPr>
          <a:xfrm>
            <a:off x="677031"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3</a:t>
            </a:r>
            <a:endParaRPr lang="en-US" sz="1870" dirty="0"/>
          </a:p>
        </p:txBody>
      </p:sp>
      <p:sp>
        <p:nvSpPr>
          <p:cNvPr id="20" name="Text 15">
            <a:extLst>
              <a:ext uri="{FF2B5EF4-FFF2-40B4-BE49-F238E27FC236}">
                <a16:creationId xmlns:a16="http://schemas.microsoft.com/office/drawing/2014/main" id="{2FEB32F6-D3D5-D07F-21FB-181CBC2044B3}"/>
              </a:ext>
            </a:extLst>
          </p:cNvPr>
          <p:cNvSpPr txBox="1"/>
          <p:nvPr/>
        </p:nvSpPr>
        <p:spPr>
          <a:xfrm>
            <a:off x="1335399"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Language Understanding and Time Parsing Module</a:t>
            </a:r>
            <a:endParaRPr lang="en-US" sz="1500" dirty="0"/>
          </a:p>
        </p:txBody>
      </p:sp>
      <p:sp>
        <p:nvSpPr>
          <p:cNvPr id="21" name="Shape 16">
            <a:extLst>
              <a:ext uri="{FF2B5EF4-FFF2-40B4-BE49-F238E27FC236}">
                <a16:creationId xmlns:a16="http://schemas.microsoft.com/office/drawing/2014/main" id="{8DFB6F15-03F9-3415-85CA-CA3CCFD0A2AA}"/>
              </a:ext>
            </a:extLst>
          </p:cNvPr>
          <p:cNvSpPr/>
          <p:nvPr/>
        </p:nvSpPr>
        <p:spPr>
          <a:xfrm>
            <a:off x="6149715"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2" name="Shape 17">
            <a:extLst>
              <a:ext uri="{FF2B5EF4-FFF2-40B4-BE49-F238E27FC236}">
                <a16:creationId xmlns:a16="http://schemas.microsoft.com/office/drawing/2014/main" id="{685A1313-06C0-8C51-438E-B8934468FC24}"/>
              </a:ext>
            </a:extLst>
          </p:cNvPr>
          <p:cNvSpPr/>
          <p:nvPr/>
        </p:nvSpPr>
        <p:spPr>
          <a:xfrm>
            <a:off x="6314307" y="3003965"/>
            <a:ext cx="502920" cy="502920"/>
          </a:xfrm>
          <a:prstGeom prst="ellipse">
            <a:avLst/>
          </a:prstGeom>
          <a:solidFill>
            <a:srgbClr val="1E2761"/>
          </a:solidFill>
          <a:ln/>
        </p:spPr>
        <p:txBody>
          <a:bodyPr/>
          <a:lstStyle/>
          <a:p>
            <a:endParaRPr lang="en-IN"/>
          </a:p>
        </p:txBody>
      </p:sp>
      <p:sp>
        <p:nvSpPr>
          <p:cNvPr id="23" name="Text 18">
            <a:extLst>
              <a:ext uri="{FF2B5EF4-FFF2-40B4-BE49-F238E27FC236}">
                <a16:creationId xmlns:a16="http://schemas.microsoft.com/office/drawing/2014/main" id="{6C5CB701-254C-F42D-3F70-26D60A53684D}"/>
              </a:ext>
            </a:extLst>
          </p:cNvPr>
          <p:cNvSpPr txBox="1"/>
          <p:nvPr/>
        </p:nvSpPr>
        <p:spPr>
          <a:xfrm>
            <a:off x="6314307"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4</a:t>
            </a:r>
            <a:endParaRPr lang="en-US" sz="1870" dirty="0"/>
          </a:p>
        </p:txBody>
      </p:sp>
      <p:sp>
        <p:nvSpPr>
          <p:cNvPr id="24" name="Text 19">
            <a:extLst>
              <a:ext uri="{FF2B5EF4-FFF2-40B4-BE49-F238E27FC236}">
                <a16:creationId xmlns:a16="http://schemas.microsoft.com/office/drawing/2014/main" id="{4E50B0E3-9615-DB31-8B06-C775722C8B6F}"/>
              </a:ext>
            </a:extLst>
          </p:cNvPr>
          <p:cNvSpPr txBox="1"/>
          <p:nvPr/>
        </p:nvSpPr>
        <p:spPr>
          <a:xfrm>
            <a:off x="6972675"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Agent/ Planning Module</a:t>
            </a:r>
            <a:endParaRPr lang="en-US" sz="1500" dirty="0"/>
          </a:p>
        </p:txBody>
      </p:sp>
      <p:sp>
        <p:nvSpPr>
          <p:cNvPr id="25" name="Shape 20">
            <a:extLst>
              <a:ext uri="{FF2B5EF4-FFF2-40B4-BE49-F238E27FC236}">
                <a16:creationId xmlns:a16="http://schemas.microsoft.com/office/drawing/2014/main" id="{9FF7EEBC-0326-44F8-C427-3B2703C2EA6C}"/>
              </a:ext>
            </a:extLst>
          </p:cNvPr>
          <p:cNvSpPr/>
          <p:nvPr/>
        </p:nvSpPr>
        <p:spPr>
          <a:xfrm>
            <a:off x="512439"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6" name="Shape 21">
            <a:extLst>
              <a:ext uri="{FF2B5EF4-FFF2-40B4-BE49-F238E27FC236}">
                <a16:creationId xmlns:a16="http://schemas.microsoft.com/office/drawing/2014/main" id="{9F1BBE7A-A348-D312-2ACE-4988BB25BA66}"/>
              </a:ext>
            </a:extLst>
          </p:cNvPr>
          <p:cNvSpPr/>
          <p:nvPr/>
        </p:nvSpPr>
        <p:spPr>
          <a:xfrm>
            <a:off x="677031" y="4192685"/>
            <a:ext cx="502920" cy="502920"/>
          </a:xfrm>
          <a:prstGeom prst="ellipse">
            <a:avLst/>
          </a:prstGeom>
          <a:solidFill>
            <a:srgbClr val="1E2761"/>
          </a:solidFill>
          <a:ln/>
        </p:spPr>
        <p:txBody>
          <a:bodyPr/>
          <a:lstStyle/>
          <a:p>
            <a:endParaRPr lang="en-IN"/>
          </a:p>
        </p:txBody>
      </p:sp>
      <p:sp>
        <p:nvSpPr>
          <p:cNvPr id="27" name="Text 22">
            <a:extLst>
              <a:ext uri="{FF2B5EF4-FFF2-40B4-BE49-F238E27FC236}">
                <a16:creationId xmlns:a16="http://schemas.microsoft.com/office/drawing/2014/main" id="{8393EA8D-1C40-AFDF-8573-1AD6C1E4FFF6}"/>
              </a:ext>
            </a:extLst>
          </p:cNvPr>
          <p:cNvSpPr txBox="1"/>
          <p:nvPr/>
        </p:nvSpPr>
        <p:spPr>
          <a:xfrm>
            <a:off x="677031"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5</a:t>
            </a:r>
            <a:endParaRPr lang="en-US" sz="1870" dirty="0"/>
          </a:p>
        </p:txBody>
      </p:sp>
      <p:sp>
        <p:nvSpPr>
          <p:cNvPr id="28" name="Text 23">
            <a:extLst>
              <a:ext uri="{FF2B5EF4-FFF2-40B4-BE49-F238E27FC236}">
                <a16:creationId xmlns:a16="http://schemas.microsoft.com/office/drawing/2014/main" id="{3E88039D-4BFC-B9AC-A149-2ACF6DBD383F}"/>
              </a:ext>
            </a:extLst>
          </p:cNvPr>
          <p:cNvSpPr txBox="1"/>
          <p:nvPr/>
        </p:nvSpPr>
        <p:spPr>
          <a:xfrm>
            <a:off x="1335399"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Tool/Action Module</a:t>
            </a:r>
            <a:endParaRPr lang="en-US" sz="1500" dirty="0"/>
          </a:p>
        </p:txBody>
      </p:sp>
      <p:sp>
        <p:nvSpPr>
          <p:cNvPr id="29" name="Shape 24">
            <a:extLst>
              <a:ext uri="{FF2B5EF4-FFF2-40B4-BE49-F238E27FC236}">
                <a16:creationId xmlns:a16="http://schemas.microsoft.com/office/drawing/2014/main" id="{811AEA8E-64BB-996E-95F0-CA8F2DAE6C23}"/>
              </a:ext>
            </a:extLst>
          </p:cNvPr>
          <p:cNvSpPr/>
          <p:nvPr/>
        </p:nvSpPr>
        <p:spPr>
          <a:xfrm>
            <a:off x="6149715"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0" name="Shape 25">
            <a:extLst>
              <a:ext uri="{FF2B5EF4-FFF2-40B4-BE49-F238E27FC236}">
                <a16:creationId xmlns:a16="http://schemas.microsoft.com/office/drawing/2014/main" id="{4D63F593-2AC0-E019-C7E6-7AE4945BD637}"/>
              </a:ext>
            </a:extLst>
          </p:cNvPr>
          <p:cNvSpPr/>
          <p:nvPr/>
        </p:nvSpPr>
        <p:spPr>
          <a:xfrm>
            <a:off x="6314307" y="4192685"/>
            <a:ext cx="502920" cy="502920"/>
          </a:xfrm>
          <a:prstGeom prst="ellipse">
            <a:avLst/>
          </a:prstGeom>
          <a:solidFill>
            <a:srgbClr val="1E2761"/>
          </a:solidFill>
          <a:ln/>
        </p:spPr>
        <p:txBody>
          <a:bodyPr/>
          <a:lstStyle/>
          <a:p>
            <a:endParaRPr lang="en-IN"/>
          </a:p>
        </p:txBody>
      </p:sp>
      <p:sp>
        <p:nvSpPr>
          <p:cNvPr id="31" name="Text 26">
            <a:extLst>
              <a:ext uri="{FF2B5EF4-FFF2-40B4-BE49-F238E27FC236}">
                <a16:creationId xmlns:a16="http://schemas.microsoft.com/office/drawing/2014/main" id="{FBA0E269-79F2-BEA1-55C3-B39381CC5D06}"/>
              </a:ext>
            </a:extLst>
          </p:cNvPr>
          <p:cNvSpPr txBox="1"/>
          <p:nvPr/>
        </p:nvSpPr>
        <p:spPr>
          <a:xfrm>
            <a:off x="6314307"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6</a:t>
            </a:r>
            <a:endParaRPr lang="en-US" sz="1870" dirty="0"/>
          </a:p>
        </p:txBody>
      </p:sp>
      <p:sp>
        <p:nvSpPr>
          <p:cNvPr id="32" name="Text 27">
            <a:extLst>
              <a:ext uri="{FF2B5EF4-FFF2-40B4-BE49-F238E27FC236}">
                <a16:creationId xmlns:a16="http://schemas.microsoft.com/office/drawing/2014/main" id="{3969CFFE-965E-2926-7A0F-680CA9F677CC}"/>
              </a:ext>
            </a:extLst>
          </p:cNvPr>
          <p:cNvSpPr txBox="1"/>
          <p:nvPr/>
        </p:nvSpPr>
        <p:spPr>
          <a:xfrm>
            <a:off x="6972675"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Memory/ Database Module</a:t>
            </a:r>
            <a:endParaRPr lang="en-US" sz="1500" dirty="0"/>
          </a:p>
        </p:txBody>
      </p:sp>
      <p:sp>
        <p:nvSpPr>
          <p:cNvPr id="33" name="Shape 28">
            <a:extLst>
              <a:ext uri="{FF2B5EF4-FFF2-40B4-BE49-F238E27FC236}">
                <a16:creationId xmlns:a16="http://schemas.microsoft.com/office/drawing/2014/main" id="{00236CB4-7999-4618-8112-7D89EF85DB94}"/>
              </a:ext>
            </a:extLst>
          </p:cNvPr>
          <p:cNvSpPr/>
          <p:nvPr/>
        </p:nvSpPr>
        <p:spPr>
          <a:xfrm>
            <a:off x="512439"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4" name="Shape 29">
            <a:extLst>
              <a:ext uri="{FF2B5EF4-FFF2-40B4-BE49-F238E27FC236}">
                <a16:creationId xmlns:a16="http://schemas.microsoft.com/office/drawing/2014/main" id="{770651B0-0AD2-FD65-B898-031FD528BF61}"/>
              </a:ext>
            </a:extLst>
          </p:cNvPr>
          <p:cNvSpPr/>
          <p:nvPr/>
        </p:nvSpPr>
        <p:spPr>
          <a:xfrm>
            <a:off x="677031" y="5381405"/>
            <a:ext cx="502920" cy="502920"/>
          </a:xfrm>
          <a:prstGeom prst="ellipse">
            <a:avLst/>
          </a:prstGeom>
          <a:solidFill>
            <a:srgbClr val="1E2761"/>
          </a:solidFill>
          <a:ln/>
        </p:spPr>
        <p:txBody>
          <a:bodyPr/>
          <a:lstStyle/>
          <a:p>
            <a:endParaRPr lang="en-IN"/>
          </a:p>
        </p:txBody>
      </p:sp>
      <p:sp>
        <p:nvSpPr>
          <p:cNvPr id="35" name="Text 30">
            <a:extLst>
              <a:ext uri="{FF2B5EF4-FFF2-40B4-BE49-F238E27FC236}">
                <a16:creationId xmlns:a16="http://schemas.microsoft.com/office/drawing/2014/main" id="{1572F7EE-8DDA-FD74-033D-9B3925938B7A}"/>
              </a:ext>
            </a:extLst>
          </p:cNvPr>
          <p:cNvSpPr txBox="1"/>
          <p:nvPr/>
        </p:nvSpPr>
        <p:spPr>
          <a:xfrm>
            <a:off x="677031"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7</a:t>
            </a:r>
            <a:endParaRPr lang="en-US" sz="1870" dirty="0"/>
          </a:p>
        </p:txBody>
      </p:sp>
      <p:sp>
        <p:nvSpPr>
          <p:cNvPr id="36" name="Text 31">
            <a:extLst>
              <a:ext uri="{FF2B5EF4-FFF2-40B4-BE49-F238E27FC236}">
                <a16:creationId xmlns:a16="http://schemas.microsoft.com/office/drawing/2014/main" id="{6F700908-8AC7-E950-7D85-5054F1A97BC2}"/>
              </a:ext>
            </a:extLst>
          </p:cNvPr>
          <p:cNvSpPr txBox="1"/>
          <p:nvPr/>
        </p:nvSpPr>
        <p:spPr>
          <a:xfrm>
            <a:off x="1335399"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Scheduler Module</a:t>
            </a:r>
            <a:endParaRPr lang="en-US" sz="1500" dirty="0"/>
          </a:p>
        </p:txBody>
      </p:sp>
      <p:sp>
        <p:nvSpPr>
          <p:cNvPr id="37" name="Shape 32">
            <a:extLst>
              <a:ext uri="{FF2B5EF4-FFF2-40B4-BE49-F238E27FC236}">
                <a16:creationId xmlns:a16="http://schemas.microsoft.com/office/drawing/2014/main" id="{EEA75A72-E244-FE8B-5BCC-3BF50F5A7E70}"/>
              </a:ext>
            </a:extLst>
          </p:cNvPr>
          <p:cNvSpPr/>
          <p:nvPr/>
        </p:nvSpPr>
        <p:spPr>
          <a:xfrm>
            <a:off x="6149715"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8" name="Shape 33">
            <a:extLst>
              <a:ext uri="{FF2B5EF4-FFF2-40B4-BE49-F238E27FC236}">
                <a16:creationId xmlns:a16="http://schemas.microsoft.com/office/drawing/2014/main" id="{A62F5776-9ABA-7FA3-8122-BA2F6D81DA91}"/>
              </a:ext>
            </a:extLst>
          </p:cNvPr>
          <p:cNvSpPr/>
          <p:nvPr/>
        </p:nvSpPr>
        <p:spPr>
          <a:xfrm>
            <a:off x="6314307" y="5381405"/>
            <a:ext cx="502920" cy="502920"/>
          </a:xfrm>
          <a:prstGeom prst="ellipse">
            <a:avLst/>
          </a:prstGeom>
          <a:solidFill>
            <a:srgbClr val="1E2761"/>
          </a:solidFill>
          <a:ln/>
        </p:spPr>
        <p:txBody>
          <a:bodyPr/>
          <a:lstStyle/>
          <a:p>
            <a:endParaRPr lang="en-IN"/>
          </a:p>
        </p:txBody>
      </p:sp>
      <p:sp>
        <p:nvSpPr>
          <p:cNvPr id="39" name="Text 34">
            <a:extLst>
              <a:ext uri="{FF2B5EF4-FFF2-40B4-BE49-F238E27FC236}">
                <a16:creationId xmlns:a16="http://schemas.microsoft.com/office/drawing/2014/main" id="{474624DF-2E8F-9A97-FA4E-FF1184566DA0}"/>
              </a:ext>
            </a:extLst>
          </p:cNvPr>
          <p:cNvSpPr txBox="1"/>
          <p:nvPr/>
        </p:nvSpPr>
        <p:spPr>
          <a:xfrm>
            <a:off x="6314307"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8</a:t>
            </a:r>
            <a:endParaRPr lang="en-US" sz="1870" dirty="0"/>
          </a:p>
        </p:txBody>
      </p:sp>
      <p:sp>
        <p:nvSpPr>
          <p:cNvPr id="40" name="Text 35">
            <a:extLst>
              <a:ext uri="{FF2B5EF4-FFF2-40B4-BE49-F238E27FC236}">
                <a16:creationId xmlns:a16="http://schemas.microsoft.com/office/drawing/2014/main" id="{10107822-9BF9-04C7-676E-E67B501AC19D}"/>
              </a:ext>
            </a:extLst>
          </p:cNvPr>
          <p:cNvSpPr txBox="1"/>
          <p:nvPr/>
        </p:nvSpPr>
        <p:spPr>
          <a:xfrm>
            <a:off x="6972675"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Error Handling and Testing Module</a:t>
            </a:r>
            <a:endParaRPr lang="en-US" sz="1500" dirty="0"/>
          </a:p>
        </p:txBody>
      </p:sp>
      <p:sp>
        <p:nvSpPr>
          <p:cNvPr id="4" name="TextBox 3">
            <a:extLst>
              <a:ext uri="{FF2B5EF4-FFF2-40B4-BE49-F238E27FC236}">
                <a16:creationId xmlns:a16="http://schemas.microsoft.com/office/drawing/2014/main" id="{D72B1F10-FFF6-075D-6512-AD6CE20184DD}"/>
              </a:ext>
            </a:extLst>
          </p:cNvPr>
          <p:cNvSpPr txBox="1"/>
          <p:nvPr/>
        </p:nvSpPr>
        <p:spPr>
          <a:xfrm>
            <a:off x="2158582" y="902"/>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287705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A72BA-92E4-F436-ABFB-2E8384A3005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E5F592E-3321-FC31-1BC9-04A527A06545}"/>
              </a:ext>
            </a:extLst>
          </p:cNvPr>
          <p:cNvSpPr>
            <a:spLocks noGrp="1"/>
          </p:cNvSpPr>
          <p:nvPr>
            <p:ph type="body" sz="quarter" idx="13"/>
          </p:nvPr>
        </p:nvSpPr>
        <p:spPr>
          <a:xfrm>
            <a:off x="255995" y="1271219"/>
            <a:ext cx="11166509" cy="4142989"/>
          </a:xfrm>
        </p:spPr>
        <p:txBody>
          <a:bodyPr/>
          <a:lstStyle/>
          <a:p>
            <a:pPr lvl="0"/>
            <a:r>
              <a:rPr lang="en-IN" sz="2400" b="0" dirty="0">
                <a:solidFill>
                  <a:schemeClr val="tx1"/>
                </a:solidFill>
                <a:latin typeface="+mn-lt"/>
              </a:rPr>
              <a:t>Understand the message: The user sends a natural-language message on WhatsApp. A webhook receives it, identifies the user by their phone number, and passes it to the LLM, which finds the intent (create, view, edit, or delete) and extracts the task, recurrence, and time. Relative phrases like "tomorrow evening" are converted into exact timestamps using the user's current date and time zone.</a:t>
            </a:r>
          </a:p>
          <a:p>
            <a:pPr lvl="0"/>
            <a:r>
              <a:rPr lang="en-IN" sz="2400" b="0" dirty="0">
                <a:solidFill>
                  <a:schemeClr val="tx1"/>
                </a:solidFill>
                <a:latin typeface="+mn-lt"/>
              </a:rPr>
              <a:t>Decide and act: Following the reason-then-act approach, the agent chooses the next step. It asks a follow-up question if details are missing. Otherwise it calls the matching tool (create, list, update, or delete reminder), which saves the change per user in the database, and confirms the result back to the user.</a:t>
            </a:r>
          </a:p>
          <a:p>
            <a:pPr lvl="0"/>
            <a:r>
              <a:rPr lang="en-IN" sz="2400" b="0" dirty="0">
                <a:solidFill>
                  <a:schemeClr val="tx1"/>
                </a:solidFill>
                <a:latin typeface="+mn-lt"/>
              </a:rPr>
              <a:t>Deliver and validate: The scheduler checks for due reminders, sends each one through WhatsApp, and queues the next occurrence for recurring ones. Errors are handled and logged, and the system is tested for intent accuracy, time parsing correctness, and on-time delivery, with prompts and logic refined based on the results.</a:t>
            </a:r>
          </a:p>
          <a:p>
            <a:pPr lvl="0" algn="just"/>
            <a:endParaRPr lang="en-US" sz="2400" b="0" dirty="0">
              <a:solidFill>
                <a:schemeClr val="tx1"/>
              </a:solidFill>
              <a:latin typeface="+mj-lt"/>
            </a:endParaRPr>
          </a:p>
        </p:txBody>
      </p:sp>
      <p:sp>
        <p:nvSpPr>
          <p:cNvPr id="3" name="TextBox 2">
            <a:extLst>
              <a:ext uri="{FF2B5EF4-FFF2-40B4-BE49-F238E27FC236}">
                <a16:creationId xmlns:a16="http://schemas.microsoft.com/office/drawing/2014/main" id="{3E652087-7A5C-3BB2-33BC-C33B881960B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63B5DB04-B3DF-528F-0C86-1A89CB1BE4DB}"/>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B622AA7-5F68-2D0F-1780-352AB5D13DB6}"/>
              </a:ext>
            </a:extLst>
          </p:cNvPr>
          <p:cNvSpPr txBox="1"/>
          <p:nvPr/>
        </p:nvSpPr>
        <p:spPr>
          <a:xfrm>
            <a:off x="4223657" y="57036"/>
            <a:ext cx="7968343" cy="923330"/>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a:p>
            <a:pPr algn="r"/>
            <a:endParaRPr lang="en-US" dirty="0"/>
          </a:p>
        </p:txBody>
      </p:sp>
      <p:pic>
        <p:nvPicPr>
          <p:cNvPr id="9" name="Picture 6" descr="LTM Limited (Formerly LTIMindtree Limited)">
            <a:extLst>
              <a:ext uri="{FF2B5EF4-FFF2-40B4-BE49-F238E27FC236}">
                <a16:creationId xmlns:a16="http://schemas.microsoft.com/office/drawing/2014/main" id="{6E5EE59F-1140-BE82-4B6E-DC55FCB60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74FFA3CD-E79D-CAD7-024F-F5CF66109AB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3" name="Picture 6" descr="LTM Limited (Formerly LTIMindtree Limited)">
            <a:extLst>
              <a:ext uri="{FF2B5EF4-FFF2-40B4-BE49-F238E27FC236}">
                <a16:creationId xmlns:a16="http://schemas.microsoft.com/office/drawing/2014/main" id="{1D2A2B80-6129-B1A5-EC1D-9832105BB3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5048"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108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6195A-1319-B8D2-3DE4-C3C7F71D0B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D1F471-2712-00F1-CCEA-222A7A8A9F34}"/>
              </a:ext>
            </a:extLst>
          </p:cNvPr>
          <p:cNvSpPr txBox="1"/>
          <p:nvPr/>
        </p:nvSpPr>
        <p:spPr>
          <a:xfrm>
            <a:off x="321390" y="327044"/>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Project plan/</a:t>
            </a:r>
            <a:r>
              <a:rPr lang="fr-FR" sz="3600" b="1" dirty="0" err="1">
                <a:solidFill>
                  <a:srgbClr val="5B9BD5">
                    <a:lumMod val="50000"/>
                  </a:srgbClr>
                </a:solidFill>
              </a:rPr>
              <a:t>milestones</a:t>
            </a:r>
            <a:r>
              <a:rPr lang="fr-FR" sz="3600" b="1" dirty="0">
                <a:solidFill>
                  <a:srgbClr val="5B9BD5">
                    <a:lumMod val="50000"/>
                  </a:srgbClr>
                </a:solidFill>
              </a:rPr>
              <a:t> </a:t>
            </a:r>
            <a:r>
              <a:rPr lang="fr-FR" sz="3600" b="1" dirty="0" err="1">
                <a:solidFill>
                  <a:srgbClr val="5B9BD5">
                    <a:lumMod val="50000"/>
                  </a:srgbClr>
                </a:solidFill>
              </a:rPr>
              <a:t>progress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84FC7A2-DB1F-11F9-2E33-60CA80451C4F}"/>
              </a:ext>
            </a:extLst>
          </p:cNvPr>
          <p:cNvCxnSpPr>
            <a:cxnSpLocks/>
          </p:cNvCxnSpPr>
          <p:nvPr/>
        </p:nvCxnSpPr>
        <p:spPr>
          <a:xfrm>
            <a:off x="139218" y="973375"/>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F4F8A0F-126B-5479-B26F-71515BFE5626}"/>
              </a:ext>
            </a:extLst>
          </p:cNvPr>
          <p:cNvSpPr txBox="1"/>
          <p:nvPr/>
        </p:nvSpPr>
        <p:spPr>
          <a:xfrm>
            <a:off x="4180115" y="57036"/>
            <a:ext cx="8011886" cy="923330"/>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a:p>
            <a:pPr algn="r"/>
            <a:endParaRPr lang="en-US" dirty="0"/>
          </a:p>
        </p:txBody>
      </p:sp>
      <p:pic>
        <p:nvPicPr>
          <p:cNvPr id="9" name="Picture 6" descr="LTM Limited (Formerly LTIMindtree Limited)">
            <a:extLst>
              <a:ext uri="{FF2B5EF4-FFF2-40B4-BE49-F238E27FC236}">
                <a16:creationId xmlns:a16="http://schemas.microsoft.com/office/drawing/2014/main" id="{93D385CF-AA07-F96A-134B-75AAE12154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EE0B9754-00AE-6B65-56DB-E7B0D9BDA1F7}"/>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3" name="Picture 6" descr="LTM Limited (Formerly LTIMindtree Limited)">
            <a:extLst>
              <a:ext uri="{FF2B5EF4-FFF2-40B4-BE49-F238E27FC236}">
                <a16:creationId xmlns:a16="http://schemas.microsoft.com/office/drawing/2014/main" id="{ED937288-1ABE-5A1C-B601-DF608DFA7A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5048" y="6611556"/>
            <a:ext cx="705207" cy="18558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16E30FF-21BB-9AA7-617A-AA9541A567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207" y="1243383"/>
            <a:ext cx="11016884" cy="4804829"/>
          </a:xfrm>
          <a:prstGeom prst="rect">
            <a:avLst/>
          </a:prstGeom>
        </p:spPr>
      </p:pic>
    </p:spTree>
    <p:extLst>
      <p:ext uri="{BB962C8B-B14F-4D97-AF65-F5344CB8AC3E}">
        <p14:creationId xmlns:p14="http://schemas.microsoft.com/office/powerpoint/2010/main" val="614162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648A3-F616-7106-82EB-46354C63A2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905DD4-1BD2-9F05-DFA8-884E827EEB8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Pipeline structure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DDB217D7-A9DE-6A3D-707E-21052924B7C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887B901-FF71-3708-C103-E19681B973CB}"/>
              </a:ext>
            </a:extLst>
          </p:cNvPr>
          <p:cNvSpPr txBox="1"/>
          <p:nvPr/>
        </p:nvSpPr>
        <p:spPr>
          <a:xfrm>
            <a:off x="4078515" y="57036"/>
            <a:ext cx="8113486" cy="923330"/>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a:p>
            <a:pPr algn="r"/>
            <a:endParaRPr lang="en-US" dirty="0"/>
          </a:p>
        </p:txBody>
      </p:sp>
      <p:pic>
        <p:nvPicPr>
          <p:cNvPr id="9" name="Picture 6" descr="LTM Limited (Formerly LTIMindtree Limited)">
            <a:extLst>
              <a:ext uri="{FF2B5EF4-FFF2-40B4-BE49-F238E27FC236}">
                <a16:creationId xmlns:a16="http://schemas.microsoft.com/office/drawing/2014/main" id="{C18C953E-A9CE-06DF-5337-227CE38C48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529AFBEB-AF51-475A-6EDD-52F6B38DBD19}"/>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3" name="Picture 6" descr="LTM Limited (Formerly LTIMindtree Limited)">
            <a:extLst>
              <a:ext uri="{FF2B5EF4-FFF2-40B4-BE49-F238E27FC236}">
                <a16:creationId xmlns:a16="http://schemas.microsoft.com/office/drawing/2014/main" id="{DE479763-9724-1F87-AFD0-7B2255EF41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5048" y="6611556"/>
            <a:ext cx="705207" cy="18558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33A4E3B-1181-97D9-26F4-CFBDFDB78136}"/>
              </a:ext>
            </a:extLst>
          </p:cNvPr>
          <p:cNvPicPr>
            <a:picLocks noChangeAspect="1"/>
          </p:cNvPicPr>
          <p:nvPr/>
        </p:nvPicPr>
        <p:blipFill>
          <a:blip r:embed="rId3">
            <a:extLst>
              <a:ext uri="{28A0092B-C50C-407E-A947-70E740481C1C}">
                <a14:useLocalDpi xmlns:a14="http://schemas.microsoft.com/office/drawing/2010/main" val="0"/>
              </a:ext>
            </a:extLst>
          </a:blip>
          <a:srcRect t="17612" r="8647" b="9519"/>
          <a:stretch>
            <a:fillRect/>
          </a:stretch>
        </p:blipFill>
        <p:spPr>
          <a:xfrm>
            <a:off x="525047" y="1594384"/>
            <a:ext cx="11137692" cy="4176825"/>
          </a:xfrm>
          <a:prstGeom prst="rect">
            <a:avLst/>
          </a:prstGeom>
        </p:spPr>
      </p:pic>
    </p:spTree>
    <p:extLst>
      <p:ext uri="{BB962C8B-B14F-4D97-AF65-F5344CB8AC3E}">
        <p14:creationId xmlns:p14="http://schemas.microsoft.com/office/powerpoint/2010/main" val="81463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15861</TotalTime>
  <Words>1524</Words>
  <Application>Microsoft Office PowerPoint</Application>
  <PresentationFormat>Widescreen</PresentationFormat>
  <Paragraphs>127</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(Body)</vt:lpstr>
      <vt:lpstr>Calibri Light</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Saikrishnan P</cp:lastModifiedBy>
  <cp:revision>26</cp:revision>
  <dcterms:created xsi:type="dcterms:W3CDTF">2024-05-13T10:33:11Z</dcterms:created>
  <dcterms:modified xsi:type="dcterms:W3CDTF">2026-10-05T15:14:59Z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